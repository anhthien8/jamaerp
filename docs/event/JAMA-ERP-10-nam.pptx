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Chào mừng cả nhà đến sinh nhật 10 tuổi JAMA HOME. Ba tấm ảnh dưới là công trình thật của chính chúng ta (Q7, Bình Chánh, Gò Vấp). Hôm nay ngoài kỷ niệm, ta ra mắt JAMA ERP — hệ thống do chính chúng ta xây cho chính chúng 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Nhấn số liệu thật: 100+ công trình cải tạo riêng 2025, dẫn đầu TP.HCM. Thời đại Việt Nam mở cửa = cơ hội khổng lồ nhưng ai nhanh hơn người đó thắng. ERP là cách chúng ta chạy nhanh hơn thị trường.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ERP bằng ngôn ngữ đời thường: toàn bộ công ty trên một hệ thống, một nguồn số thật. Nhấn 327 kiểm thử = làm nghiêm túc.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 qua 6 bước theo hành trình 1 khách hàng thật. Chốt: không khách nào bị bỏ quên — đó là tiền của công ty và hoa hồng của các bạn.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quan trọng nhất với sales — nói chậm. Báo giá 30 giây NGAY TẠI NHÀ KHÁCH. Hoa hồng minh bạch: ký xong thấy tiền của mình ngay trên app.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Anh em công trường: mọi thứ 1 chạm, mất mạng vẫn chấm công. Chế độ màn hình ngoài trời — đứng nắng vẫn đọc rõ.</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 toán &amp; HR: nhập một lần, số tự chảy. Lương + thuế TNCN tự tính, phiếu lương gửi riêng từng người qua Telegram.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BOD: 8h sáng số liệu tự đến qua Telegram. Ngân sách vs thực chi cảnh báo dự án 'ăn' lợi nhuận từ sớm.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 bot làm việc cả đêm. Khung nói: việc lặp lại để máy lo, con người dành cho khách hàng.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Customer Portal: khách tự xem tiến độ + nghiệm thu online. Uy tín hôm nay = hợp đồng ngày mai.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nối lợi ích: công ty thắng thì anh em thắng — năng suất, thu nhập, cơ hội. Đọc chậm câu quote.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Ảnh teambuilding = chính chúng ta. Kêu gọi 3 việc: đăng nhập hôm nay, liên kết Telegram, mọi việc lên hệ thống. Chốt: 10 năm nền móng — thập kỷ bứt phá bắt đầu từ hôm nay!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2194560" y="4206240"/>
            <a:ext cx="5486400" cy="5486400"/>
          </a:xfrm>
          <a:prstGeom prst="ellipse">
            <a:avLst/>
          </a:prstGeom>
          <a:solidFill>
            <a:srgbClr val="C9A96E">
              <a:alpha val="8000"/>
            </a:srgbClr>
          </a:solidFill>
          <a:ln/>
        </p:spPr>
      </p:sp>
      <p:sp>
        <p:nvSpPr>
          <p:cNvPr id="3" name="Shape 1"/>
          <p:cNvSpPr/>
          <p:nvPr/>
        </p:nvSpPr>
        <p:spPr>
          <a:xfrm>
            <a:off x="9692640" y="-2377440"/>
            <a:ext cx="5486400" cy="5486400"/>
          </a:xfrm>
          <a:prstGeom prst="ellipse">
            <a:avLst/>
          </a:prstGeom>
          <a:solidFill>
            <a:srgbClr val="C9A96E">
              <a:alpha val="12000"/>
            </a:srgbClr>
          </a:solidFill>
          <a:ln/>
        </p:spPr>
      </p:sp>
      <p:pic>
        <p:nvPicPr>
          <p:cNvPr id="4" name="Image 0" descr="preencoded.png">    </p:cNvPr>
          <p:cNvPicPr>
            <a:picLocks noChangeAspect="1"/>
          </p:cNvPicPr>
          <p:nvPr/>
        </p:nvPicPr>
        <p:blipFill>
          <a:blip r:embed="rId1"/>
          <a:stretch>
            <a:fillRect/>
          </a:stretch>
        </p:blipFill>
        <p:spPr>
          <a:xfrm>
            <a:off x="4841748" y="384048"/>
            <a:ext cx="2505456" cy="685800"/>
          </a:xfrm>
          <a:prstGeom prst="rect">
            <a:avLst/>
          </a:prstGeom>
        </p:spPr>
      </p:pic>
      <p:sp>
        <p:nvSpPr>
          <p:cNvPr id="5" name="Text 2"/>
          <p:cNvSpPr/>
          <p:nvPr/>
        </p:nvSpPr>
        <p:spPr>
          <a:xfrm>
            <a:off x="0" y="1207008"/>
            <a:ext cx="12188952" cy="347472"/>
          </a:xfrm>
          <a:prstGeom prst="rect">
            <a:avLst/>
          </a:prstGeom>
          <a:noFill/>
          <a:ln/>
        </p:spPr>
        <p:txBody>
          <a:bodyPr wrap="square" lIns="0" tIns="0" rIns="0" bIns="0" rtlCol="0" anchor="ctr"/>
          <a:lstStyle/>
          <a:p>
            <a:pPr algn="ctr" indent="0" marL="0">
              <a:buNone/>
            </a:pPr>
            <a:r>
              <a:rPr lang="en-US" sz="1400" b="1" spc="500" kern="0" dirty="0">
                <a:solidFill>
                  <a:srgbClr val="AAB8CB"/>
                </a:solidFill>
              </a:rPr>
              <a:t>KỶ NIỆM 10 NĂM THÀNH LẬP</a:t>
            </a:r>
            <a:endParaRPr lang="en-US" sz="1400" dirty="0"/>
          </a:p>
        </p:txBody>
      </p:sp>
      <p:sp>
        <p:nvSpPr>
          <p:cNvPr id="6" name="Text 3"/>
          <p:cNvSpPr/>
          <p:nvPr/>
        </p:nvSpPr>
        <p:spPr>
          <a:xfrm>
            <a:off x="0" y="1481328"/>
            <a:ext cx="12188952" cy="1371600"/>
          </a:xfrm>
          <a:prstGeom prst="rect">
            <a:avLst/>
          </a:prstGeom>
          <a:noFill/>
          <a:ln/>
        </p:spPr>
        <p:txBody>
          <a:bodyPr wrap="square" lIns="0" tIns="0" rIns="0" bIns="0" rtlCol="0" anchor="ctr"/>
          <a:lstStyle/>
          <a:p>
            <a:pPr algn="ctr" indent="0" marL="0">
              <a:buNone/>
            </a:pPr>
            <a:r>
              <a:rPr lang="en-US" sz="8400" b="1" dirty="0">
                <a:solidFill>
                  <a:srgbClr val="C9A96E"/>
                </a:solidFill>
                <a:latin typeface="Cambria" pitchFamily="34" charset="0"/>
                <a:ea typeface="Cambria" pitchFamily="34" charset="-122"/>
                <a:cs typeface="Cambria" pitchFamily="34" charset="-120"/>
              </a:rPr>
              <a:t>10 NĂM</a:t>
            </a:r>
            <a:endParaRPr lang="en-US" sz="8400" dirty="0"/>
          </a:p>
        </p:txBody>
      </p:sp>
      <p:sp>
        <p:nvSpPr>
          <p:cNvPr id="7" name="Text 4"/>
          <p:cNvSpPr/>
          <p:nvPr/>
        </p:nvSpPr>
        <p:spPr>
          <a:xfrm>
            <a:off x="0" y="2871216"/>
            <a:ext cx="12188952" cy="411480"/>
          </a:xfrm>
          <a:prstGeom prst="rect">
            <a:avLst/>
          </a:prstGeom>
          <a:noFill/>
          <a:ln/>
        </p:spPr>
        <p:txBody>
          <a:bodyPr wrap="square" lIns="0" tIns="0" rIns="0" bIns="0" rtlCol="0" anchor="ctr"/>
          <a:lstStyle/>
          <a:p>
            <a:pPr algn="ctr" indent="0" marL="0">
              <a:buNone/>
            </a:pPr>
            <a:r>
              <a:rPr lang="en-US" sz="1900" i="1" dirty="0">
                <a:solidFill>
                  <a:srgbClr val="C9A96E"/>
                </a:solidFill>
              </a:rPr>
              <a:t>Thiết kế cho cuộc sống mới</a:t>
            </a:r>
            <a:endParaRPr lang="en-US" sz="1900" dirty="0"/>
          </a:p>
        </p:txBody>
      </p:sp>
      <p:sp>
        <p:nvSpPr>
          <p:cNvPr id="8" name="Text 5"/>
          <p:cNvSpPr/>
          <p:nvPr/>
        </p:nvSpPr>
        <p:spPr>
          <a:xfrm>
            <a:off x="0" y="3401568"/>
            <a:ext cx="12188952" cy="457200"/>
          </a:xfrm>
          <a:prstGeom prst="rect">
            <a:avLst/>
          </a:prstGeom>
          <a:noFill/>
          <a:ln/>
        </p:spPr>
        <p:txBody>
          <a:bodyPr wrap="square" lIns="0" tIns="0" rIns="0" bIns="0" rtlCol="0" anchor="ctr"/>
          <a:lstStyle/>
          <a:p>
            <a:pPr algn="ctr" indent="0" marL="0">
              <a:buNone/>
            </a:pPr>
            <a:r>
              <a:rPr lang="en-US" sz="2500" b="1" spc="200" kern="0" dirty="0">
                <a:solidFill>
                  <a:srgbClr val="FFFFFF"/>
                </a:solidFill>
              </a:rPr>
              <a:t>RA MẮT HỆ THỐNG JAMA ERP</a:t>
            </a:r>
            <a:endParaRPr lang="en-US" sz="2500" dirty="0"/>
          </a:p>
        </p:txBody>
      </p:sp>
      <p:sp>
        <p:nvSpPr>
          <p:cNvPr id="9" name="Text 6"/>
          <p:cNvSpPr/>
          <p:nvPr/>
        </p:nvSpPr>
        <p:spPr>
          <a:xfrm>
            <a:off x="0" y="3895344"/>
            <a:ext cx="12188952" cy="347472"/>
          </a:xfrm>
          <a:prstGeom prst="rect">
            <a:avLst/>
          </a:prstGeom>
          <a:noFill/>
          <a:ln/>
        </p:spPr>
        <p:txBody>
          <a:bodyPr wrap="square" lIns="0" tIns="0" rIns="0" bIns="0" rtlCol="0" anchor="ctr"/>
          <a:lstStyle/>
          <a:p>
            <a:pPr algn="ctr" indent="0" marL="0">
              <a:buNone/>
            </a:pPr>
            <a:r>
              <a:rPr lang="en-US" sz="1300" dirty="0">
                <a:solidFill>
                  <a:srgbClr val="AAB8CB"/>
                </a:solidFill>
              </a:rPr>
              <a:t>Hệ điều hành số của chúng ta cho thập kỷ bứt phá tiếp theo · Sự kiện nội bộ — BOD &amp; toàn thể thành viên</a:t>
            </a:r>
            <a:endParaRPr lang="en-US" sz="1300" dirty="0"/>
          </a:p>
        </p:txBody>
      </p:sp>
      <p:pic>
        <p:nvPicPr>
          <p:cNvPr id="10" name="Image 1" descr="preencoded.png">    </p:cNvPr>
          <p:cNvPicPr>
            <a:picLocks noChangeAspect="1"/>
          </p:cNvPicPr>
          <p:nvPr/>
        </p:nvPicPr>
        <p:blipFill>
          <a:blip r:embed="rId2"/>
          <a:stretch>
            <a:fillRect/>
          </a:stretch>
        </p:blipFill>
        <p:spPr>
          <a:xfrm>
            <a:off x="1970532" y="4498848"/>
            <a:ext cx="2596896" cy="1737360"/>
          </a:xfrm>
          <a:prstGeom prst="rect">
            <a:avLst/>
          </a:prstGeom>
        </p:spPr>
      </p:pic>
      <p:pic>
        <p:nvPicPr>
          <p:cNvPr id="11" name="Image 2" descr="preencoded.png">    </p:cNvPr>
          <p:cNvPicPr>
            <a:picLocks noChangeAspect="1"/>
          </p:cNvPicPr>
          <p:nvPr/>
        </p:nvPicPr>
        <p:blipFill>
          <a:blip r:embed="rId3"/>
          <a:stretch>
            <a:fillRect/>
          </a:stretch>
        </p:blipFill>
        <p:spPr>
          <a:xfrm>
            <a:off x="4796028" y="4498848"/>
            <a:ext cx="2596896" cy="1737360"/>
          </a:xfrm>
          <a:prstGeom prst="rect">
            <a:avLst/>
          </a:prstGeom>
        </p:spPr>
      </p:pic>
      <p:pic>
        <p:nvPicPr>
          <p:cNvPr id="12" name="Image 3" descr="preencoded.png">    </p:cNvPr>
          <p:cNvPicPr>
            <a:picLocks noChangeAspect="1"/>
          </p:cNvPicPr>
          <p:nvPr/>
        </p:nvPicPr>
        <p:blipFill>
          <a:blip r:embed="rId4"/>
          <a:stretch>
            <a:fillRect/>
          </a:stretch>
        </p:blipFill>
        <p:spPr>
          <a:xfrm>
            <a:off x="7621524" y="4498848"/>
            <a:ext cx="2596896" cy="1737360"/>
          </a:xfrm>
          <a:prstGeom prst="rect">
            <a:avLst/>
          </a:prstGeom>
        </p:spPr>
      </p:pic>
      <p:sp>
        <p:nvSpPr>
          <p:cNvPr id="13" name="Text 7"/>
          <p:cNvSpPr/>
          <p:nvPr/>
        </p:nvSpPr>
        <p:spPr>
          <a:xfrm>
            <a:off x="0" y="6327648"/>
            <a:ext cx="12188952" cy="292608"/>
          </a:xfrm>
          <a:prstGeom prst="rect">
            <a:avLst/>
          </a:prstGeom>
          <a:noFill/>
          <a:ln/>
        </p:spPr>
        <p:txBody>
          <a:bodyPr wrap="square" lIns="0" tIns="0" rIns="0" bIns="0" rtlCol="0" anchor="ctr"/>
          <a:lstStyle/>
          <a:p>
            <a:pPr algn="ctr" indent="0" marL="0">
              <a:buNone/>
            </a:pPr>
            <a:r>
              <a:rPr lang="en-US" sz="1050" i="1" dirty="0">
                <a:solidFill>
                  <a:srgbClr val="AAB8CB"/>
                </a:solidFill>
              </a:rPr>
              <a:t>Công trình thật của chúng ta — Q7 · Bình Chánh · Gò Vấp</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HÀNH TRÌNH</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10 năm xây tổ ấm — bây giờ xây thập kỷ bứt phá</a:t>
            </a:r>
            <a:endParaRPr lang="en-US" sz="3300" dirty="0"/>
          </a:p>
        </p:txBody>
      </p:sp>
      <p:sp>
        <p:nvSpPr>
          <p:cNvPr id="6" name="Shape 4"/>
          <p:cNvSpPr/>
          <p:nvPr/>
        </p:nvSpPr>
        <p:spPr>
          <a:xfrm>
            <a:off x="566928" y="1627632"/>
            <a:ext cx="512064" cy="512064"/>
          </a:xfrm>
          <a:prstGeom prst="ellipse">
            <a:avLst/>
          </a:prstGeom>
          <a:solidFill>
            <a:srgbClr val="C9A96E"/>
          </a:solidFill>
          <a:ln/>
        </p:spPr>
      </p:sp>
      <p:pic>
        <p:nvPicPr>
          <p:cNvPr id="7" name="Image 0" descr="preencoded.png">    </p:cNvPr>
          <p:cNvPicPr>
            <a:picLocks noChangeAspect="1"/>
          </p:cNvPicPr>
          <p:nvPr/>
        </p:nvPicPr>
        <p:blipFill>
          <a:blip r:embed="rId1"/>
          <a:stretch>
            <a:fillRect/>
          </a:stretch>
        </p:blipFill>
        <p:spPr>
          <a:xfrm>
            <a:off x="679582" y="1740286"/>
            <a:ext cx="286756" cy="286756"/>
          </a:xfrm>
          <a:prstGeom prst="rect">
            <a:avLst/>
          </a:prstGeom>
        </p:spPr>
      </p:pic>
      <p:sp>
        <p:nvSpPr>
          <p:cNvPr id="8" name="Text 5"/>
          <p:cNvSpPr/>
          <p:nvPr/>
        </p:nvSpPr>
        <p:spPr>
          <a:xfrm>
            <a:off x="1280160" y="1545336"/>
            <a:ext cx="5321808" cy="329184"/>
          </a:xfrm>
          <a:prstGeom prst="rect">
            <a:avLst/>
          </a:prstGeom>
          <a:noFill/>
          <a:ln/>
        </p:spPr>
        <p:txBody>
          <a:bodyPr wrap="square" lIns="0" tIns="0" rIns="0" bIns="0" rtlCol="0" anchor="ctr"/>
          <a:lstStyle/>
          <a:p>
            <a:pPr indent="0" marL="0">
              <a:buNone/>
            </a:pPr>
            <a:r>
              <a:rPr lang="en-US" sz="1650" b="1" dirty="0">
                <a:solidFill>
                  <a:srgbClr val="FFFFFF"/>
                </a:solidFill>
              </a:rPr>
              <a:t>Nền móng 10 năm</a:t>
            </a:r>
            <a:endParaRPr lang="en-US" sz="1650" dirty="0"/>
          </a:p>
        </p:txBody>
      </p:sp>
      <p:sp>
        <p:nvSpPr>
          <p:cNvPr id="9" name="Text 6"/>
          <p:cNvSpPr/>
          <p:nvPr/>
        </p:nvSpPr>
        <p:spPr>
          <a:xfrm>
            <a:off x="1280160" y="1856232"/>
            <a:ext cx="5321808" cy="566928"/>
          </a:xfrm>
          <a:prstGeom prst="rect">
            <a:avLst/>
          </a:prstGeom>
          <a:noFill/>
          <a:ln/>
        </p:spPr>
        <p:txBody>
          <a:bodyPr wrap="square" lIns="0" tIns="0" rIns="0" bIns="0" rtlCol="0" anchor="ctr"/>
          <a:lstStyle/>
          <a:p>
            <a:pPr indent="0" marL="0">
              <a:buNone/>
            </a:pPr>
            <a:r>
              <a:rPr lang="en-US" sz="1250" dirty="0">
                <a:solidFill>
                  <a:srgbClr val="AAB8CB"/>
                </a:solidFill>
              </a:rPr>
              <a:t>Từ đội ngũ nhỏ thành công ty 100+ thành viên — dẫn đầu mảng cải tạo nhà trọn gói tại TP.HCM &amp; miền Tây.</a:t>
            </a:r>
            <a:endParaRPr lang="en-US" sz="1250" dirty="0"/>
          </a:p>
        </p:txBody>
      </p:sp>
      <p:sp>
        <p:nvSpPr>
          <p:cNvPr id="10" name="Shape 7"/>
          <p:cNvSpPr/>
          <p:nvPr/>
        </p:nvSpPr>
        <p:spPr>
          <a:xfrm>
            <a:off x="566928" y="2679192"/>
            <a:ext cx="512064" cy="512064"/>
          </a:xfrm>
          <a:prstGeom prst="ellipse">
            <a:avLst/>
          </a:prstGeom>
          <a:solidFill>
            <a:srgbClr val="C9A96E"/>
          </a:solidFill>
          <a:ln/>
        </p:spPr>
      </p:sp>
      <p:pic>
        <p:nvPicPr>
          <p:cNvPr id="11" name="Image 1" descr="preencoded.png">    </p:cNvPr>
          <p:cNvPicPr>
            <a:picLocks noChangeAspect="1"/>
          </p:cNvPicPr>
          <p:nvPr/>
        </p:nvPicPr>
        <p:blipFill>
          <a:blip r:embed="rId2"/>
          <a:stretch>
            <a:fillRect/>
          </a:stretch>
        </p:blipFill>
        <p:spPr>
          <a:xfrm>
            <a:off x="679582" y="2791846"/>
            <a:ext cx="286756" cy="286756"/>
          </a:xfrm>
          <a:prstGeom prst="rect">
            <a:avLst/>
          </a:prstGeom>
        </p:spPr>
      </p:pic>
      <p:sp>
        <p:nvSpPr>
          <p:cNvPr id="12" name="Text 8"/>
          <p:cNvSpPr/>
          <p:nvPr/>
        </p:nvSpPr>
        <p:spPr>
          <a:xfrm>
            <a:off x="1280160" y="2596896"/>
            <a:ext cx="5321808" cy="329184"/>
          </a:xfrm>
          <a:prstGeom prst="rect">
            <a:avLst/>
          </a:prstGeom>
          <a:noFill/>
          <a:ln/>
        </p:spPr>
        <p:txBody>
          <a:bodyPr wrap="square" lIns="0" tIns="0" rIns="0" bIns="0" rtlCol="0" anchor="ctr"/>
          <a:lstStyle/>
          <a:p>
            <a:pPr indent="0" marL="0">
              <a:buNone/>
            </a:pPr>
            <a:r>
              <a:rPr lang="en-US" sz="1650" b="1" dirty="0">
                <a:solidFill>
                  <a:srgbClr val="FFFFFF"/>
                </a:solidFill>
              </a:rPr>
              <a:t>Thời đại mở cửa của Việt Nam</a:t>
            </a:r>
            <a:endParaRPr lang="en-US" sz="1650" dirty="0"/>
          </a:p>
        </p:txBody>
      </p:sp>
      <p:sp>
        <p:nvSpPr>
          <p:cNvPr id="13" name="Text 9"/>
          <p:cNvSpPr/>
          <p:nvPr/>
        </p:nvSpPr>
        <p:spPr>
          <a:xfrm>
            <a:off x="1280160" y="2907792"/>
            <a:ext cx="5321808" cy="566928"/>
          </a:xfrm>
          <a:prstGeom prst="rect">
            <a:avLst/>
          </a:prstGeom>
          <a:noFill/>
          <a:ln/>
        </p:spPr>
        <p:txBody>
          <a:bodyPr wrap="square" lIns="0" tIns="0" rIns="0" bIns="0" rtlCol="0" anchor="ctr"/>
          <a:lstStyle/>
          <a:p>
            <a:pPr indent="0" marL="0">
              <a:buNone/>
            </a:pPr>
            <a:r>
              <a:rPr lang="en-US" sz="1250" dirty="0">
                <a:solidFill>
                  <a:srgbClr val="AAB8CB"/>
                </a:solidFill>
              </a:rPr>
              <a:t>Kinh tế hội nhập, tầng lớp trung lưu tăng nhanh — nhu cầu nhà đẹp chưa bao giờ lớn như bây giờ.</a:t>
            </a:r>
            <a:endParaRPr lang="en-US" sz="1250" dirty="0"/>
          </a:p>
        </p:txBody>
      </p:sp>
      <p:sp>
        <p:nvSpPr>
          <p:cNvPr id="14" name="Shape 10"/>
          <p:cNvSpPr/>
          <p:nvPr/>
        </p:nvSpPr>
        <p:spPr>
          <a:xfrm>
            <a:off x="566928" y="3730752"/>
            <a:ext cx="512064" cy="512064"/>
          </a:xfrm>
          <a:prstGeom prst="ellipse">
            <a:avLst/>
          </a:prstGeom>
          <a:solidFill>
            <a:srgbClr val="C9A96E"/>
          </a:solidFill>
          <a:ln/>
        </p:spPr>
      </p:sp>
      <p:pic>
        <p:nvPicPr>
          <p:cNvPr id="15" name="Image 2" descr="preencoded.png">    </p:cNvPr>
          <p:cNvPicPr>
            <a:picLocks noChangeAspect="1"/>
          </p:cNvPicPr>
          <p:nvPr/>
        </p:nvPicPr>
        <p:blipFill>
          <a:blip r:embed="rId3"/>
          <a:stretch>
            <a:fillRect/>
          </a:stretch>
        </p:blipFill>
        <p:spPr>
          <a:xfrm>
            <a:off x="679582" y="3843406"/>
            <a:ext cx="286756" cy="286756"/>
          </a:xfrm>
          <a:prstGeom prst="rect">
            <a:avLst/>
          </a:prstGeom>
        </p:spPr>
      </p:pic>
      <p:sp>
        <p:nvSpPr>
          <p:cNvPr id="16" name="Text 11"/>
          <p:cNvSpPr/>
          <p:nvPr/>
        </p:nvSpPr>
        <p:spPr>
          <a:xfrm>
            <a:off x="1280160" y="3648456"/>
            <a:ext cx="5321808" cy="329184"/>
          </a:xfrm>
          <a:prstGeom prst="rect">
            <a:avLst/>
          </a:prstGeom>
          <a:noFill/>
          <a:ln/>
        </p:spPr>
        <p:txBody>
          <a:bodyPr wrap="square" lIns="0" tIns="0" rIns="0" bIns="0" rtlCol="0" anchor="ctr"/>
          <a:lstStyle/>
          <a:p>
            <a:pPr indent="0" marL="0">
              <a:buNone/>
            </a:pPr>
            <a:r>
              <a:rPr lang="en-US" sz="1650" b="1" dirty="0">
                <a:solidFill>
                  <a:srgbClr val="FFFFFF"/>
                </a:solidFill>
              </a:rPr>
              <a:t>Cơ hội thuộc về người nhanh hơn</a:t>
            </a:r>
            <a:endParaRPr lang="en-US" sz="1650" dirty="0"/>
          </a:p>
        </p:txBody>
      </p:sp>
      <p:sp>
        <p:nvSpPr>
          <p:cNvPr id="17" name="Text 12"/>
          <p:cNvSpPr/>
          <p:nvPr/>
        </p:nvSpPr>
        <p:spPr>
          <a:xfrm>
            <a:off x="1280160" y="3959352"/>
            <a:ext cx="5321808" cy="566928"/>
          </a:xfrm>
          <a:prstGeom prst="rect">
            <a:avLst/>
          </a:prstGeom>
          <a:noFill/>
          <a:ln/>
        </p:spPr>
        <p:txBody>
          <a:bodyPr wrap="square" lIns="0" tIns="0" rIns="0" bIns="0" rtlCol="0" anchor="ctr"/>
          <a:lstStyle/>
          <a:p>
            <a:pPr indent="0" marL="0">
              <a:buNone/>
            </a:pPr>
            <a:r>
              <a:rPr lang="en-US" sz="1250" dirty="0">
                <a:solidFill>
                  <a:srgbClr val="AAB8CB"/>
                </a:solidFill>
              </a:rPr>
              <a:t>Ai phản hồi khách nhanh hơn, vận hành gọn hơn — người đó thắng. Vì vậy chúng ta xây JAMA ERP.</a:t>
            </a:r>
            <a:endParaRPr lang="en-US" sz="1250" dirty="0"/>
          </a:p>
        </p:txBody>
      </p:sp>
      <p:sp>
        <p:nvSpPr>
          <p:cNvPr id="18" name="Text 13"/>
          <p:cNvSpPr/>
          <p:nvPr/>
        </p:nvSpPr>
        <p:spPr>
          <a:xfrm>
            <a:off x="566928" y="5212080"/>
            <a:ext cx="6035040" cy="548640"/>
          </a:xfrm>
          <a:prstGeom prst="rect">
            <a:avLst/>
          </a:prstGeom>
          <a:noFill/>
          <a:ln/>
        </p:spPr>
        <p:txBody>
          <a:bodyPr wrap="square" lIns="0" tIns="0" rIns="0" bIns="0" rtlCol="0" anchor="ctr"/>
          <a:lstStyle/>
          <a:p>
            <a:pPr indent="0" marL="0">
              <a:buNone/>
            </a:pPr>
            <a:r>
              <a:rPr lang="en-US" sz="1400" i="1" dirty="0">
                <a:solidFill>
                  <a:srgbClr val="C9A96E"/>
                </a:solidFill>
              </a:rPr>
              <a:t>“Cơ hội không chờ ai. Chúng ta trang bị để nắm lấy nó.”</a:t>
            </a:r>
            <a:endParaRPr lang="en-US" sz="1400" dirty="0"/>
          </a:p>
        </p:txBody>
      </p:sp>
      <p:sp>
        <p:nvSpPr>
          <p:cNvPr id="19" name="Shape 14"/>
          <p:cNvSpPr/>
          <p:nvPr/>
        </p:nvSpPr>
        <p:spPr>
          <a:xfrm>
            <a:off x="7086600" y="1600200"/>
            <a:ext cx="2286000" cy="1691640"/>
          </a:xfrm>
          <a:prstGeom prst="roundRect">
            <a:avLst>
              <a:gd name="adj" fmla="val 4865"/>
            </a:avLst>
          </a:prstGeom>
          <a:solidFill>
            <a:srgbClr val="13243C"/>
          </a:solidFill>
          <a:ln w="12700">
            <a:solidFill>
              <a:srgbClr val="1B3152"/>
            </a:solidFill>
            <a:prstDash val="solid"/>
          </a:ln>
        </p:spPr>
      </p:sp>
      <p:sp>
        <p:nvSpPr>
          <p:cNvPr id="20" name="Text 15"/>
          <p:cNvSpPr/>
          <p:nvPr/>
        </p:nvSpPr>
        <p:spPr>
          <a:xfrm>
            <a:off x="7223760" y="1746504"/>
            <a:ext cx="2011680" cy="8458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10</a:t>
            </a:r>
            <a:endParaRPr lang="en-US" sz="4000" dirty="0"/>
          </a:p>
        </p:txBody>
      </p:sp>
      <p:sp>
        <p:nvSpPr>
          <p:cNvPr id="21" name="Text 16"/>
          <p:cNvSpPr/>
          <p:nvPr/>
        </p:nvSpPr>
        <p:spPr>
          <a:xfrm>
            <a:off x="7223760" y="2581351"/>
            <a:ext cx="2011680" cy="310896"/>
          </a:xfrm>
          <a:prstGeom prst="rect">
            <a:avLst/>
          </a:prstGeom>
          <a:noFill/>
          <a:ln/>
        </p:spPr>
        <p:txBody>
          <a:bodyPr wrap="square" lIns="0" tIns="0" rIns="0" bIns="0" rtlCol="0" anchor="ctr"/>
          <a:lstStyle/>
          <a:p>
            <a:pPr algn="ctr" indent="0" marL="0">
              <a:buNone/>
            </a:pPr>
            <a:r>
              <a:rPr lang="en-US" sz="1400" b="1" dirty="0">
                <a:solidFill>
                  <a:srgbClr val="FFFFFF"/>
                </a:solidFill>
              </a:rPr>
              <a:t>năm phát triển</a:t>
            </a:r>
            <a:endParaRPr lang="en-US" sz="1400" dirty="0"/>
          </a:p>
        </p:txBody>
      </p:sp>
      <p:sp>
        <p:nvSpPr>
          <p:cNvPr id="22" name="Text 17"/>
          <p:cNvSpPr/>
          <p:nvPr/>
        </p:nvSpPr>
        <p:spPr>
          <a:xfrm>
            <a:off x="7223760" y="2873959"/>
            <a:ext cx="2011680" cy="274320"/>
          </a:xfrm>
          <a:prstGeom prst="rect">
            <a:avLst/>
          </a:prstGeom>
          <a:noFill/>
          <a:ln/>
        </p:spPr>
        <p:txBody>
          <a:bodyPr wrap="square" lIns="0" tIns="0" rIns="0" bIns="0" rtlCol="0" anchor="ctr"/>
          <a:lstStyle/>
          <a:p>
            <a:pPr algn="ctr" indent="0" marL="0">
              <a:buNone/>
            </a:pPr>
            <a:r>
              <a:rPr lang="en-US" sz="1050" dirty="0">
                <a:solidFill>
                  <a:srgbClr val="AAB8CB"/>
                </a:solidFill>
              </a:rPr>
              <a:t>nền móng vững</a:t>
            </a:r>
            <a:endParaRPr lang="en-US" sz="1050" dirty="0"/>
          </a:p>
        </p:txBody>
      </p:sp>
      <p:sp>
        <p:nvSpPr>
          <p:cNvPr id="23" name="Shape 18"/>
          <p:cNvSpPr/>
          <p:nvPr/>
        </p:nvSpPr>
        <p:spPr>
          <a:xfrm>
            <a:off x="9555480" y="1600200"/>
            <a:ext cx="2286000" cy="1691640"/>
          </a:xfrm>
          <a:prstGeom prst="roundRect">
            <a:avLst>
              <a:gd name="adj" fmla="val 4865"/>
            </a:avLst>
          </a:prstGeom>
          <a:solidFill>
            <a:srgbClr val="13243C"/>
          </a:solidFill>
          <a:ln w="12700">
            <a:solidFill>
              <a:srgbClr val="1B3152"/>
            </a:solidFill>
            <a:prstDash val="solid"/>
          </a:ln>
        </p:spPr>
      </p:sp>
      <p:sp>
        <p:nvSpPr>
          <p:cNvPr id="24" name="Text 19"/>
          <p:cNvSpPr/>
          <p:nvPr/>
        </p:nvSpPr>
        <p:spPr>
          <a:xfrm>
            <a:off x="9692640" y="1746504"/>
            <a:ext cx="2011680" cy="8458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100+</a:t>
            </a:r>
            <a:endParaRPr lang="en-US" sz="4000" dirty="0"/>
          </a:p>
        </p:txBody>
      </p:sp>
      <p:sp>
        <p:nvSpPr>
          <p:cNvPr id="25" name="Text 20"/>
          <p:cNvSpPr/>
          <p:nvPr/>
        </p:nvSpPr>
        <p:spPr>
          <a:xfrm>
            <a:off x="9692640" y="2581351"/>
            <a:ext cx="2011680" cy="310896"/>
          </a:xfrm>
          <a:prstGeom prst="rect">
            <a:avLst/>
          </a:prstGeom>
          <a:noFill/>
          <a:ln/>
        </p:spPr>
        <p:txBody>
          <a:bodyPr wrap="square" lIns="0" tIns="0" rIns="0" bIns="0" rtlCol="0" anchor="ctr"/>
          <a:lstStyle/>
          <a:p>
            <a:pPr algn="ctr" indent="0" marL="0">
              <a:buNone/>
            </a:pPr>
            <a:r>
              <a:rPr lang="en-US" sz="1400" b="1" dirty="0">
                <a:solidFill>
                  <a:srgbClr val="FFFFFF"/>
                </a:solidFill>
              </a:rPr>
              <a:t>thành viên</a:t>
            </a:r>
            <a:endParaRPr lang="en-US" sz="1400" dirty="0"/>
          </a:p>
        </p:txBody>
      </p:sp>
      <p:sp>
        <p:nvSpPr>
          <p:cNvPr id="26" name="Text 21"/>
          <p:cNvSpPr/>
          <p:nvPr/>
        </p:nvSpPr>
        <p:spPr>
          <a:xfrm>
            <a:off x="9692640" y="2873959"/>
            <a:ext cx="2011680" cy="274320"/>
          </a:xfrm>
          <a:prstGeom prst="rect">
            <a:avLst/>
          </a:prstGeom>
          <a:noFill/>
          <a:ln/>
        </p:spPr>
        <p:txBody>
          <a:bodyPr wrap="square" lIns="0" tIns="0" rIns="0" bIns="0" rtlCol="0" anchor="ctr"/>
          <a:lstStyle/>
          <a:p>
            <a:pPr algn="ctr" indent="0" marL="0">
              <a:buNone/>
            </a:pPr>
            <a:r>
              <a:rPr lang="en-US" sz="1050" dirty="0">
                <a:solidFill>
                  <a:srgbClr val="AAB8CB"/>
                </a:solidFill>
              </a:rPr>
              <a:t>5 phòng ban</a:t>
            </a:r>
            <a:endParaRPr lang="en-US" sz="1050" dirty="0"/>
          </a:p>
        </p:txBody>
      </p:sp>
      <p:sp>
        <p:nvSpPr>
          <p:cNvPr id="27" name="Shape 22"/>
          <p:cNvSpPr/>
          <p:nvPr/>
        </p:nvSpPr>
        <p:spPr>
          <a:xfrm>
            <a:off x="7086600" y="3474720"/>
            <a:ext cx="2286000" cy="1691640"/>
          </a:xfrm>
          <a:prstGeom prst="roundRect">
            <a:avLst>
              <a:gd name="adj" fmla="val 4865"/>
            </a:avLst>
          </a:prstGeom>
          <a:solidFill>
            <a:srgbClr val="13243C"/>
          </a:solidFill>
          <a:ln w="12700">
            <a:solidFill>
              <a:srgbClr val="1B3152"/>
            </a:solidFill>
            <a:prstDash val="solid"/>
          </a:ln>
        </p:spPr>
      </p:sp>
      <p:sp>
        <p:nvSpPr>
          <p:cNvPr id="28" name="Text 23"/>
          <p:cNvSpPr/>
          <p:nvPr/>
        </p:nvSpPr>
        <p:spPr>
          <a:xfrm>
            <a:off x="7223760" y="3621024"/>
            <a:ext cx="2011680" cy="8458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24/7</a:t>
            </a:r>
            <a:endParaRPr lang="en-US" sz="4000" dirty="0"/>
          </a:p>
        </p:txBody>
      </p:sp>
      <p:sp>
        <p:nvSpPr>
          <p:cNvPr id="29" name="Text 24"/>
          <p:cNvSpPr/>
          <p:nvPr/>
        </p:nvSpPr>
        <p:spPr>
          <a:xfrm>
            <a:off x="7223760" y="4455871"/>
            <a:ext cx="2011680" cy="310896"/>
          </a:xfrm>
          <a:prstGeom prst="rect">
            <a:avLst/>
          </a:prstGeom>
          <a:noFill/>
          <a:ln/>
        </p:spPr>
        <p:txBody>
          <a:bodyPr wrap="square" lIns="0" tIns="0" rIns="0" bIns="0" rtlCol="0" anchor="ctr"/>
          <a:lstStyle/>
          <a:p>
            <a:pPr algn="ctr" indent="0" marL="0">
              <a:buNone/>
            </a:pPr>
            <a:r>
              <a:rPr lang="en-US" sz="1400" b="1" dirty="0">
                <a:solidFill>
                  <a:srgbClr val="FFFFFF"/>
                </a:solidFill>
              </a:rPr>
              <a:t>hệ thống mới</a:t>
            </a:r>
            <a:endParaRPr lang="en-US" sz="1400" dirty="0"/>
          </a:p>
        </p:txBody>
      </p:sp>
      <p:sp>
        <p:nvSpPr>
          <p:cNvPr id="30" name="Text 25"/>
          <p:cNvSpPr/>
          <p:nvPr/>
        </p:nvSpPr>
        <p:spPr>
          <a:xfrm>
            <a:off x="7223760" y="4748479"/>
            <a:ext cx="2011680" cy="274320"/>
          </a:xfrm>
          <a:prstGeom prst="rect">
            <a:avLst/>
          </a:prstGeom>
          <a:noFill/>
          <a:ln/>
        </p:spPr>
        <p:txBody>
          <a:bodyPr wrap="square" lIns="0" tIns="0" rIns="0" bIns="0" rtlCol="0" anchor="ctr"/>
          <a:lstStyle/>
          <a:p>
            <a:pPr algn="ctr" indent="0" marL="0">
              <a:buNone/>
            </a:pPr>
            <a:r>
              <a:rPr lang="en-US" sz="1050" dirty="0">
                <a:solidFill>
                  <a:srgbClr val="AAB8CB"/>
                </a:solidFill>
              </a:rPr>
              <a:t>không bao giờ ngủ</a:t>
            </a:r>
            <a:endParaRPr lang="en-US" sz="1050" dirty="0"/>
          </a:p>
        </p:txBody>
      </p:sp>
      <p:sp>
        <p:nvSpPr>
          <p:cNvPr id="31" name="Shape 26"/>
          <p:cNvSpPr/>
          <p:nvPr/>
        </p:nvSpPr>
        <p:spPr>
          <a:xfrm>
            <a:off x="9555480" y="3474720"/>
            <a:ext cx="2286000" cy="1691640"/>
          </a:xfrm>
          <a:prstGeom prst="roundRect">
            <a:avLst>
              <a:gd name="adj" fmla="val 4865"/>
            </a:avLst>
          </a:prstGeom>
          <a:solidFill>
            <a:srgbClr val="13243C"/>
          </a:solidFill>
          <a:ln w="12700">
            <a:solidFill>
              <a:srgbClr val="1B3152"/>
            </a:solidFill>
            <a:prstDash val="solid"/>
          </a:ln>
        </p:spPr>
      </p:sp>
      <p:sp>
        <p:nvSpPr>
          <p:cNvPr id="32" name="Text 27"/>
          <p:cNvSpPr/>
          <p:nvPr/>
        </p:nvSpPr>
        <p:spPr>
          <a:xfrm>
            <a:off x="9692640" y="3621024"/>
            <a:ext cx="2011680" cy="8458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100+</a:t>
            </a:r>
            <a:endParaRPr lang="en-US" sz="4000" dirty="0"/>
          </a:p>
        </p:txBody>
      </p:sp>
      <p:sp>
        <p:nvSpPr>
          <p:cNvPr id="33" name="Text 28"/>
          <p:cNvSpPr/>
          <p:nvPr/>
        </p:nvSpPr>
        <p:spPr>
          <a:xfrm>
            <a:off x="9692640" y="4455871"/>
            <a:ext cx="2011680" cy="310896"/>
          </a:xfrm>
          <a:prstGeom prst="rect">
            <a:avLst/>
          </a:prstGeom>
          <a:noFill/>
          <a:ln/>
        </p:spPr>
        <p:txBody>
          <a:bodyPr wrap="square" lIns="0" tIns="0" rIns="0" bIns="0" rtlCol="0" anchor="ctr"/>
          <a:lstStyle/>
          <a:p>
            <a:pPr algn="ctr" indent="0" marL="0">
              <a:buNone/>
            </a:pPr>
            <a:r>
              <a:rPr lang="en-US" sz="1400" b="1" dirty="0">
                <a:solidFill>
                  <a:srgbClr val="FFFFFF"/>
                </a:solidFill>
              </a:rPr>
              <a:t>công trình cải tạo</a:t>
            </a:r>
            <a:endParaRPr lang="en-US" sz="1400" dirty="0"/>
          </a:p>
        </p:txBody>
      </p:sp>
      <p:sp>
        <p:nvSpPr>
          <p:cNvPr id="34" name="Text 29"/>
          <p:cNvSpPr/>
          <p:nvPr/>
        </p:nvSpPr>
        <p:spPr>
          <a:xfrm>
            <a:off x="9692640" y="4748479"/>
            <a:ext cx="2011680" cy="274320"/>
          </a:xfrm>
          <a:prstGeom prst="rect">
            <a:avLst/>
          </a:prstGeom>
          <a:noFill/>
          <a:ln/>
        </p:spPr>
        <p:txBody>
          <a:bodyPr wrap="square" lIns="0" tIns="0" rIns="0" bIns="0" rtlCol="0" anchor="ctr"/>
          <a:lstStyle/>
          <a:p>
            <a:pPr algn="ctr" indent="0" marL="0">
              <a:buNone/>
            </a:pPr>
            <a:r>
              <a:rPr lang="en-US" sz="1050" dirty="0">
                <a:solidFill>
                  <a:srgbClr val="AAB8CB"/>
                </a:solidFill>
              </a:rPr>
              <a:t>riêng năm 2025 — dẫn đầu TP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RA MẮT</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JAMA ERP — toàn bộ công ty trong một hệ thống</a:t>
            </a:r>
            <a:endParaRPr lang="en-US" sz="3300" dirty="0"/>
          </a:p>
        </p:txBody>
      </p:sp>
      <p:sp>
        <p:nvSpPr>
          <p:cNvPr id="6" name="Text 4"/>
          <p:cNvSpPr/>
          <p:nvPr/>
        </p:nvSpPr>
        <p:spPr>
          <a:xfrm>
            <a:off x="566928" y="1371600"/>
            <a:ext cx="11064240" cy="685800"/>
          </a:xfrm>
          <a:prstGeom prst="rect">
            <a:avLst/>
          </a:prstGeom>
          <a:noFill/>
          <a:ln/>
        </p:spPr>
        <p:txBody>
          <a:bodyPr wrap="square" lIns="0" tIns="0" rIns="0" bIns="0" rtlCol="0" anchor="ctr"/>
          <a:lstStyle/>
          <a:p>
            <a:pPr indent="0" marL="0">
              <a:buNone/>
            </a:pPr>
            <a:r>
              <a:rPr lang="en-US" sz="1500" dirty="0">
                <a:solidFill>
                  <a:srgbClr val="E8EEF6"/>
                </a:solidFill>
              </a:rPr>
              <a:t>Khách hàng → Báo giá → Hợp đồng → Thi công → Nghiệm thu → Bảo hành. Một dòng chảy, một nguồn số liệu thật — hết cảnh mỗi người một file Excel, tin nhắn trôi mất.</a:t>
            </a:r>
            <a:endParaRPr lang="en-US" sz="1500" dirty="0"/>
          </a:p>
        </p:txBody>
      </p:sp>
      <p:sp>
        <p:nvSpPr>
          <p:cNvPr id="7" name="Shape 5"/>
          <p:cNvSpPr/>
          <p:nvPr/>
        </p:nvSpPr>
        <p:spPr>
          <a:xfrm>
            <a:off x="566928" y="2377440"/>
            <a:ext cx="2697480" cy="1920240"/>
          </a:xfrm>
          <a:prstGeom prst="roundRect">
            <a:avLst>
              <a:gd name="adj" fmla="val 4286"/>
            </a:avLst>
          </a:prstGeom>
          <a:solidFill>
            <a:srgbClr val="13243C"/>
          </a:solidFill>
          <a:ln w="12700">
            <a:solidFill>
              <a:srgbClr val="1B3152"/>
            </a:solidFill>
            <a:prstDash val="solid"/>
          </a:ln>
        </p:spPr>
      </p:sp>
      <p:sp>
        <p:nvSpPr>
          <p:cNvPr id="8" name="Text 6"/>
          <p:cNvSpPr/>
          <p:nvPr/>
        </p:nvSpPr>
        <p:spPr>
          <a:xfrm>
            <a:off x="704088" y="2523744"/>
            <a:ext cx="2423160" cy="9601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13+</a:t>
            </a:r>
            <a:endParaRPr lang="en-US" sz="4000" dirty="0"/>
          </a:p>
        </p:txBody>
      </p:sp>
      <p:sp>
        <p:nvSpPr>
          <p:cNvPr id="9" name="Text 7"/>
          <p:cNvSpPr/>
          <p:nvPr/>
        </p:nvSpPr>
        <p:spPr>
          <a:xfrm>
            <a:off x="704088" y="3491179"/>
            <a:ext cx="2423160" cy="310896"/>
          </a:xfrm>
          <a:prstGeom prst="rect">
            <a:avLst/>
          </a:prstGeom>
          <a:noFill/>
          <a:ln/>
        </p:spPr>
        <p:txBody>
          <a:bodyPr wrap="square" lIns="0" tIns="0" rIns="0" bIns="0" rtlCol="0" anchor="ctr"/>
          <a:lstStyle/>
          <a:p>
            <a:pPr algn="ctr" indent="0" marL="0">
              <a:buNone/>
            </a:pPr>
            <a:r>
              <a:rPr lang="en-US" sz="1400" b="1" dirty="0">
                <a:solidFill>
                  <a:srgbClr val="FFFFFF"/>
                </a:solidFill>
              </a:rPr>
              <a:t>phân hệ nghiệp vụ</a:t>
            </a:r>
            <a:endParaRPr lang="en-US" sz="1400" dirty="0"/>
          </a:p>
        </p:txBody>
      </p:sp>
      <p:sp>
        <p:nvSpPr>
          <p:cNvPr id="10" name="Text 8"/>
          <p:cNvSpPr/>
          <p:nvPr/>
        </p:nvSpPr>
        <p:spPr>
          <a:xfrm>
            <a:off x="704088" y="3783787"/>
            <a:ext cx="2423160" cy="274320"/>
          </a:xfrm>
          <a:prstGeom prst="rect">
            <a:avLst/>
          </a:prstGeom>
          <a:noFill/>
          <a:ln/>
        </p:spPr>
        <p:txBody>
          <a:bodyPr wrap="square" lIns="0" tIns="0" rIns="0" bIns="0" rtlCol="0" anchor="ctr"/>
          <a:lstStyle/>
          <a:p>
            <a:pPr algn="ctr" indent="0" marL="0">
              <a:buNone/>
            </a:pPr>
            <a:r>
              <a:rPr lang="en-US" sz="1050" dirty="0">
                <a:solidFill>
                  <a:srgbClr val="AAB8CB"/>
                </a:solidFill>
              </a:rPr>
              <a:t>CRM · dự án · kho · tài chính · HR</a:t>
            </a:r>
            <a:endParaRPr lang="en-US" sz="1050" dirty="0"/>
          </a:p>
        </p:txBody>
      </p:sp>
      <p:sp>
        <p:nvSpPr>
          <p:cNvPr id="11" name="Shape 9"/>
          <p:cNvSpPr/>
          <p:nvPr/>
        </p:nvSpPr>
        <p:spPr>
          <a:xfrm>
            <a:off x="3520440" y="2377440"/>
            <a:ext cx="2697480" cy="1920240"/>
          </a:xfrm>
          <a:prstGeom prst="roundRect">
            <a:avLst>
              <a:gd name="adj" fmla="val 4286"/>
            </a:avLst>
          </a:prstGeom>
          <a:solidFill>
            <a:srgbClr val="13243C"/>
          </a:solidFill>
          <a:ln w="12700">
            <a:solidFill>
              <a:srgbClr val="1B3152"/>
            </a:solidFill>
            <a:prstDash val="solid"/>
          </a:ln>
        </p:spPr>
      </p:sp>
      <p:sp>
        <p:nvSpPr>
          <p:cNvPr id="12" name="Text 10"/>
          <p:cNvSpPr/>
          <p:nvPr/>
        </p:nvSpPr>
        <p:spPr>
          <a:xfrm>
            <a:off x="3657600" y="2523744"/>
            <a:ext cx="2423160" cy="9601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6</a:t>
            </a:r>
            <a:endParaRPr lang="en-US" sz="4000" dirty="0"/>
          </a:p>
        </p:txBody>
      </p:sp>
      <p:sp>
        <p:nvSpPr>
          <p:cNvPr id="13" name="Text 11"/>
          <p:cNvSpPr/>
          <p:nvPr/>
        </p:nvSpPr>
        <p:spPr>
          <a:xfrm>
            <a:off x="3657600" y="3491179"/>
            <a:ext cx="2423160" cy="310896"/>
          </a:xfrm>
          <a:prstGeom prst="rect">
            <a:avLst/>
          </a:prstGeom>
          <a:noFill/>
          <a:ln/>
        </p:spPr>
        <p:txBody>
          <a:bodyPr wrap="square" lIns="0" tIns="0" rIns="0" bIns="0" rtlCol="0" anchor="ctr"/>
          <a:lstStyle/>
          <a:p>
            <a:pPr algn="ctr" indent="0" marL="0">
              <a:buNone/>
            </a:pPr>
            <a:r>
              <a:rPr lang="en-US" sz="1400" b="1" dirty="0">
                <a:solidFill>
                  <a:srgbClr val="FFFFFF"/>
                </a:solidFill>
              </a:rPr>
              <a:t>vai trò chuyên biệt</a:t>
            </a:r>
            <a:endParaRPr lang="en-US" sz="1400" dirty="0"/>
          </a:p>
        </p:txBody>
      </p:sp>
      <p:sp>
        <p:nvSpPr>
          <p:cNvPr id="14" name="Text 12"/>
          <p:cNvSpPr/>
          <p:nvPr/>
        </p:nvSpPr>
        <p:spPr>
          <a:xfrm>
            <a:off x="3657600" y="3783787"/>
            <a:ext cx="2423160" cy="274320"/>
          </a:xfrm>
          <a:prstGeom prst="rect">
            <a:avLst/>
          </a:prstGeom>
          <a:noFill/>
          <a:ln/>
        </p:spPr>
        <p:txBody>
          <a:bodyPr wrap="square" lIns="0" tIns="0" rIns="0" bIns="0" rtlCol="0" anchor="ctr"/>
          <a:lstStyle/>
          <a:p>
            <a:pPr algn="ctr" indent="0" marL="0">
              <a:buNone/>
            </a:pPr>
            <a:r>
              <a:rPr lang="en-US" sz="1050" dirty="0">
                <a:solidFill>
                  <a:srgbClr val="AAB8CB"/>
                </a:solidFill>
              </a:rPr>
              <a:t>màn hình riêng cho từng vị trí</a:t>
            </a:r>
            <a:endParaRPr lang="en-US" sz="1050" dirty="0"/>
          </a:p>
        </p:txBody>
      </p:sp>
      <p:sp>
        <p:nvSpPr>
          <p:cNvPr id="15" name="Shape 13"/>
          <p:cNvSpPr/>
          <p:nvPr/>
        </p:nvSpPr>
        <p:spPr>
          <a:xfrm>
            <a:off x="6473952" y="2377440"/>
            <a:ext cx="2697480" cy="1920240"/>
          </a:xfrm>
          <a:prstGeom prst="roundRect">
            <a:avLst>
              <a:gd name="adj" fmla="val 4286"/>
            </a:avLst>
          </a:prstGeom>
          <a:solidFill>
            <a:srgbClr val="13243C"/>
          </a:solidFill>
          <a:ln w="12700">
            <a:solidFill>
              <a:srgbClr val="1B3152"/>
            </a:solidFill>
            <a:prstDash val="solid"/>
          </a:ln>
        </p:spPr>
      </p:sp>
      <p:sp>
        <p:nvSpPr>
          <p:cNvPr id="16" name="Text 14"/>
          <p:cNvSpPr/>
          <p:nvPr/>
        </p:nvSpPr>
        <p:spPr>
          <a:xfrm>
            <a:off x="6611112" y="2523744"/>
            <a:ext cx="2423160" cy="9601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327</a:t>
            </a:r>
            <a:endParaRPr lang="en-US" sz="4000" dirty="0"/>
          </a:p>
        </p:txBody>
      </p:sp>
      <p:sp>
        <p:nvSpPr>
          <p:cNvPr id="17" name="Text 15"/>
          <p:cNvSpPr/>
          <p:nvPr/>
        </p:nvSpPr>
        <p:spPr>
          <a:xfrm>
            <a:off x="6611112" y="3491179"/>
            <a:ext cx="2423160" cy="310896"/>
          </a:xfrm>
          <a:prstGeom prst="rect">
            <a:avLst/>
          </a:prstGeom>
          <a:noFill/>
          <a:ln/>
        </p:spPr>
        <p:txBody>
          <a:bodyPr wrap="square" lIns="0" tIns="0" rIns="0" bIns="0" rtlCol="0" anchor="ctr"/>
          <a:lstStyle/>
          <a:p>
            <a:pPr algn="ctr" indent="0" marL="0">
              <a:buNone/>
            </a:pPr>
            <a:r>
              <a:rPr lang="en-US" sz="1400" b="1" dirty="0">
                <a:solidFill>
                  <a:srgbClr val="FFFFFF"/>
                </a:solidFill>
              </a:rPr>
              <a:t>kiểm thử tự động</a:t>
            </a:r>
            <a:endParaRPr lang="en-US" sz="1400" dirty="0"/>
          </a:p>
        </p:txBody>
      </p:sp>
      <p:sp>
        <p:nvSpPr>
          <p:cNvPr id="18" name="Text 16"/>
          <p:cNvSpPr/>
          <p:nvPr/>
        </p:nvSpPr>
        <p:spPr>
          <a:xfrm>
            <a:off x="6611112" y="3783787"/>
            <a:ext cx="2423160" cy="274320"/>
          </a:xfrm>
          <a:prstGeom prst="rect">
            <a:avLst/>
          </a:prstGeom>
          <a:noFill/>
          <a:ln/>
        </p:spPr>
        <p:txBody>
          <a:bodyPr wrap="square" lIns="0" tIns="0" rIns="0" bIns="0" rtlCol="0" anchor="ctr"/>
          <a:lstStyle/>
          <a:p>
            <a:pPr algn="ctr" indent="0" marL="0">
              <a:buNone/>
            </a:pPr>
            <a:r>
              <a:rPr lang="en-US" sz="1050" dirty="0">
                <a:solidFill>
                  <a:srgbClr val="AAB8CB"/>
                </a:solidFill>
              </a:rPr>
              <a:t>chạy trước mỗi lần nâng cấp</a:t>
            </a:r>
            <a:endParaRPr lang="en-US" sz="1050" dirty="0"/>
          </a:p>
        </p:txBody>
      </p:sp>
      <p:sp>
        <p:nvSpPr>
          <p:cNvPr id="19" name="Shape 17"/>
          <p:cNvSpPr/>
          <p:nvPr/>
        </p:nvSpPr>
        <p:spPr>
          <a:xfrm>
            <a:off x="9427464" y="2377440"/>
            <a:ext cx="2697480" cy="1920240"/>
          </a:xfrm>
          <a:prstGeom prst="roundRect">
            <a:avLst>
              <a:gd name="adj" fmla="val 4286"/>
            </a:avLst>
          </a:prstGeom>
          <a:solidFill>
            <a:srgbClr val="13243C"/>
          </a:solidFill>
          <a:ln w="12700">
            <a:solidFill>
              <a:srgbClr val="1B3152"/>
            </a:solidFill>
            <a:prstDash val="solid"/>
          </a:ln>
        </p:spPr>
      </p:sp>
      <p:sp>
        <p:nvSpPr>
          <p:cNvPr id="20" name="Text 18"/>
          <p:cNvSpPr/>
          <p:nvPr/>
        </p:nvSpPr>
        <p:spPr>
          <a:xfrm>
            <a:off x="9564624" y="2523744"/>
            <a:ext cx="2423160" cy="960120"/>
          </a:xfrm>
          <a:prstGeom prst="rect">
            <a:avLst/>
          </a:prstGeom>
          <a:noFill/>
          <a:ln/>
        </p:spPr>
        <p:txBody>
          <a:bodyPr wrap="square" lIns="0" tIns="0" rIns="0" bIns="0" rtlCol="0" anchor="ctr"/>
          <a:lstStyle/>
          <a:p>
            <a:pPr algn="ctr" indent="0" marL="0">
              <a:buNone/>
            </a:pPr>
            <a:r>
              <a:rPr lang="en-US" sz="4000" b="1" dirty="0">
                <a:solidFill>
                  <a:srgbClr val="C9A96E"/>
                </a:solidFill>
                <a:latin typeface="Cambria" pitchFamily="34" charset="0"/>
                <a:ea typeface="Cambria" pitchFamily="34" charset="-122"/>
                <a:cs typeface="Cambria" pitchFamily="34" charset="-120"/>
              </a:rPr>
              <a:t>24/7</a:t>
            </a:r>
            <a:endParaRPr lang="en-US" sz="4000" dirty="0"/>
          </a:p>
        </p:txBody>
      </p:sp>
      <p:sp>
        <p:nvSpPr>
          <p:cNvPr id="21" name="Text 19"/>
          <p:cNvSpPr/>
          <p:nvPr/>
        </p:nvSpPr>
        <p:spPr>
          <a:xfrm>
            <a:off x="9564624" y="3491179"/>
            <a:ext cx="2423160" cy="310896"/>
          </a:xfrm>
          <a:prstGeom prst="rect">
            <a:avLst/>
          </a:prstGeom>
          <a:noFill/>
          <a:ln/>
        </p:spPr>
        <p:txBody>
          <a:bodyPr wrap="square" lIns="0" tIns="0" rIns="0" bIns="0" rtlCol="0" anchor="ctr"/>
          <a:lstStyle/>
          <a:p>
            <a:pPr algn="ctr" indent="0" marL="0">
              <a:buNone/>
            </a:pPr>
            <a:r>
              <a:rPr lang="en-US" sz="1400" b="1" dirty="0">
                <a:solidFill>
                  <a:srgbClr val="FFFFFF"/>
                </a:solidFill>
              </a:rPr>
              <a:t>trên mọi thiết bị</a:t>
            </a:r>
            <a:endParaRPr lang="en-US" sz="1400" dirty="0"/>
          </a:p>
        </p:txBody>
      </p:sp>
      <p:sp>
        <p:nvSpPr>
          <p:cNvPr id="22" name="Text 20"/>
          <p:cNvSpPr/>
          <p:nvPr/>
        </p:nvSpPr>
        <p:spPr>
          <a:xfrm>
            <a:off x="9564624" y="3783787"/>
            <a:ext cx="2423160" cy="274320"/>
          </a:xfrm>
          <a:prstGeom prst="rect">
            <a:avLst/>
          </a:prstGeom>
          <a:noFill/>
          <a:ln/>
        </p:spPr>
        <p:txBody>
          <a:bodyPr wrap="square" lIns="0" tIns="0" rIns="0" bIns="0" rtlCol="0" anchor="ctr"/>
          <a:lstStyle/>
          <a:p>
            <a:pPr algn="ctr" indent="0" marL="0">
              <a:buNone/>
            </a:pPr>
            <a:r>
              <a:rPr lang="en-US" sz="1050" dirty="0">
                <a:solidFill>
                  <a:srgbClr val="AAB8CB"/>
                </a:solidFill>
              </a:rPr>
              <a:t>điện thoại · máy tính · Telegram</a:t>
            </a:r>
            <a:endParaRPr lang="en-US" sz="1050" dirty="0"/>
          </a:p>
        </p:txBody>
      </p:sp>
      <p:sp>
        <p:nvSpPr>
          <p:cNvPr id="23" name="Shape 21"/>
          <p:cNvSpPr/>
          <p:nvPr/>
        </p:nvSpPr>
        <p:spPr>
          <a:xfrm>
            <a:off x="566928" y="4754880"/>
            <a:ext cx="512064" cy="512064"/>
          </a:xfrm>
          <a:prstGeom prst="ellipse">
            <a:avLst/>
          </a:prstGeom>
          <a:solidFill>
            <a:srgbClr val="C9A96E"/>
          </a:solidFill>
          <a:ln/>
        </p:spPr>
      </p:sp>
      <p:pic>
        <p:nvPicPr>
          <p:cNvPr id="24" name="Image 0" descr="preencoded.png">    </p:cNvPr>
          <p:cNvPicPr>
            <a:picLocks noChangeAspect="1"/>
          </p:cNvPicPr>
          <p:nvPr/>
        </p:nvPicPr>
        <p:blipFill>
          <a:blip r:embed="rId1"/>
          <a:stretch>
            <a:fillRect/>
          </a:stretch>
        </p:blipFill>
        <p:spPr>
          <a:xfrm>
            <a:off x="679582" y="4867534"/>
            <a:ext cx="286756" cy="286756"/>
          </a:xfrm>
          <a:prstGeom prst="rect">
            <a:avLst/>
          </a:prstGeom>
        </p:spPr>
      </p:pic>
      <p:sp>
        <p:nvSpPr>
          <p:cNvPr id="25" name="Text 22"/>
          <p:cNvSpPr/>
          <p:nvPr/>
        </p:nvSpPr>
        <p:spPr>
          <a:xfrm>
            <a:off x="1280160" y="4773168"/>
            <a:ext cx="10241280" cy="502920"/>
          </a:xfrm>
          <a:prstGeom prst="rect">
            <a:avLst/>
          </a:prstGeom>
          <a:noFill/>
          <a:ln/>
        </p:spPr>
        <p:txBody>
          <a:bodyPr wrap="square" lIns="0" tIns="0" rIns="0" bIns="0" rtlCol="0" anchor="ctr"/>
          <a:lstStyle/>
          <a:p>
            <a:pPr indent="0" marL="0">
              <a:buNone/>
            </a:pPr>
            <a:r>
              <a:rPr lang="en-US" sz="1350" dirty="0">
                <a:solidFill>
                  <a:srgbClr val="AAB8CB"/>
                </a:solidFill>
              </a:rPr>
              <a:t>Dữ liệu an toàn: máy chủ đám mây, sao lưu mỗi ngày, phân quyền chặt theo vai trò — ai đúng việc nấy.</a:t>
            </a:r>
            <a:endParaRPr lang="en-US" sz="1350" dirty="0"/>
          </a:p>
        </p:txBody>
      </p:sp>
      <p:sp>
        <p:nvSpPr>
          <p:cNvPr id="26" name="Shape 23"/>
          <p:cNvSpPr/>
          <p:nvPr/>
        </p:nvSpPr>
        <p:spPr>
          <a:xfrm>
            <a:off x="566928" y="5440680"/>
            <a:ext cx="512064" cy="512064"/>
          </a:xfrm>
          <a:prstGeom prst="ellipse">
            <a:avLst/>
          </a:prstGeom>
          <a:solidFill>
            <a:srgbClr val="C9A96E"/>
          </a:solidFill>
          <a:ln/>
        </p:spPr>
      </p:sp>
      <p:pic>
        <p:nvPicPr>
          <p:cNvPr id="27" name="Image 1" descr="preencoded.png">    </p:cNvPr>
          <p:cNvPicPr>
            <a:picLocks noChangeAspect="1"/>
          </p:cNvPicPr>
          <p:nvPr/>
        </p:nvPicPr>
        <p:blipFill>
          <a:blip r:embed="rId2"/>
          <a:stretch>
            <a:fillRect/>
          </a:stretch>
        </p:blipFill>
        <p:spPr>
          <a:xfrm>
            <a:off x="679582" y="5553334"/>
            <a:ext cx="286756" cy="286756"/>
          </a:xfrm>
          <a:prstGeom prst="rect">
            <a:avLst/>
          </a:prstGeom>
        </p:spPr>
      </p:pic>
      <p:sp>
        <p:nvSpPr>
          <p:cNvPr id="28" name="Text 24"/>
          <p:cNvSpPr/>
          <p:nvPr/>
        </p:nvSpPr>
        <p:spPr>
          <a:xfrm>
            <a:off x="1280160" y="5458968"/>
            <a:ext cx="10241280" cy="502920"/>
          </a:xfrm>
          <a:prstGeom prst="rect">
            <a:avLst/>
          </a:prstGeom>
          <a:noFill/>
          <a:ln/>
        </p:spPr>
        <p:txBody>
          <a:bodyPr wrap="square" lIns="0" tIns="0" rIns="0" bIns="0" rtlCol="0" anchor="ctr"/>
          <a:lstStyle/>
          <a:p>
            <a:pPr indent="0" marL="0">
              <a:buNone/>
            </a:pPr>
            <a:r>
              <a:rPr lang="en-US" sz="1350" dirty="0">
                <a:solidFill>
                  <a:srgbClr val="AAB8CB"/>
                </a:solidFill>
              </a:rPr>
              <a:t>Không cần cài đặt gì phức tạp: mở trình duyệt là làm việc, ngoài công trường vẫn thao tác được 1 tay.</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MỘT DÒNG CHẢY DUY NHẤT</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Hành trình của mỗi khách hàng trên JAMA ERP</a:t>
            </a:r>
            <a:endParaRPr lang="en-US" sz="3300" dirty="0"/>
          </a:p>
        </p:txBody>
      </p:sp>
      <p:sp>
        <p:nvSpPr>
          <p:cNvPr id="6" name="Shape 4"/>
          <p:cNvSpPr/>
          <p:nvPr/>
        </p:nvSpPr>
        <p:spPr>
          <a:xfrm>
            <a:off x="566928" y="1965960"/>
            <a:ext cx="1755648" cy="2834640"/>
          </a:xfrm>
          <a:prstGeom prst="roundRect">
            <a:avLst>
              <a:gd name="adj" fmla="val 4167"/>
            </a:avLst>
          </a:prstGeom>
          <a:solidFill>
            <a:srgbClr val="13243C"/>
          </a:solidFill>
          <a:ln w="12700">
            <a:solidFill>
              <a:srgbClr val="1B3152"/>
            </a:solidFill>
            <a:prstDash val="solid"/>
          </a:ln>
        </p:spPr>
      </p:sp>
      <p:sp>
        <p:nvSpPr>
          <p:cNvPr id="7" name="Shape 5"/>
          <p:cNvSpPr/>
          <p:nvPr/>
        </p:nvSpPr>
        <p:spPr>
          <a:xfrm>
            <a:off x="1161288" y="2240280"/>
            <a:ext cx="566928" cy="566928"/>
          </a:xfrm>
          <a:prstGeom prst="ellipse">
            <a:avLst/>
          </a:prstGeom>
          <a:solidFill>
            <a:srgbClr val="C9A96E"/>
          </a:solidFill>
          <a:ln/>
        </p:spPr>
      </p:sp>
      <p:pic>
        <p:nvPicPr>
          <p:cNvPr id="8" name="Image 0" descr="preencoded.png">    </p:cNvPr>
          <p:cNvPicPr>
            <a:picLocks noChangeAspect="1"/>
          </p:cNvPicPr>
          <p:nvPr/>
        </p:nvPicPr>
        <p:blipFill>
          <a:blip r:embed="rId1"/>
          <a:stretch>
            <a:fillRect/>
          </a:stretch>
        </p:blipFill>
        <p:spPr>
          <a:xfrm>
            <a:off x="1286012" y="2365004"/>
            <a:ext cx="317480" cy="317480"/>
          </a:xfrm>
          <a:prstGeom prst="rect">
            <a:avLst/>
          </a:prstGeom>
        </p:spPr>
      </p:pic>
      <p:sp>
        <p:nvSpPr>
          <p:cNvPr id="9" name="Text 6"/>
          <p:cNvSpPr/>
          <p:nvPr/>
        </p:nvSpPr>
        <p:spPr>
          <a:xfrm>
            <a:off x="1865376" y="2075688"/>
            <a:ext cx="365760" cy="274320"/>
          </a:xfrm>
          <a:prstGeom prst="rect">
            <a:avLst/>
          </a:prstGeom>
          <a:noFill/>
          <a:ln/>
        </p:spPr>
        <p:txBody>
          <a:bodyPr wrap="square" lIns="0" tIns="0" rIns="0" bIns="0" rtlCol="0" anchor="ctr"/>
          <a:lstStyle/>
          <a:p>
            <a:pPr algn="r" indent="0" marL="0">
              <a:buNone/>
            </a:pPr>
            <a:r>
              <a:rPr lang="en-US" sz="1200" b="1" dirty="0">
                <a:solidFill>
                  <a:srgbClr val="B8935A"/>
                </a:solidFill>
              </a:rPr>
              <a:t>1</a:t>
            </a:r>
            <a:endParaRPr lang="en-US" sz="1200" dirty="0"/>
          </a:p>
        </p:txBody>
      </p:sp>
      <p:sp>
        <p:nvSpPr>
          <p:cNvPr id="10" name="Text 7"/>
          <p:cNvSpPr/>
          <p:nvPr/>
        </p:nvSpPr>
        <p:spPr>
          <a:xfrm>
            <a:off x="640080" y="2926080"/>
            <a:ext cx="1609344" cy="502920"/>
          </a:xfrm>
          <a:prstGeom prst="rect">
            <a:avLst/>
          </a:prstGeom>
          <a:noFill/>
          <a:ln/>
        </p:spPr>
        <p:txBody>
          <a:bodyPr wrap="square" lIns="0" tIns="0" rIns="0" bIns="0" rtlCol="0" anchor="ctr"/>
          <a:lstStyle/>
          <a:p>
            <a:pPr algn="ctr" indent="0" marL="0">
              <a:buNone/>
            </a:pPr>
            <a:r>
              <a:rPr lang="en-US" sz="1450" b="1" dirty="0">
                <a:solidFill>
                  <a:srgbClr val="FFFFFF"/>
                </a:solidFill>
              </a:rPr>
              <a:t>Tiếp nhận</a:t>
            </a:r>
            <a:endParaRPr lang="en-US" sz="1450" dirty="0"/>
          </a:p>
        </p:txBody>
      </p:sp>
      <p:sp>
        <p:nvSpPr>
          <p:cNvPr id="11" name="Text 8"/>
          <p:cNvSpPr/>
          <p:nvPr/>
        </p:nvSpPr>
        <p:spPr>
          <a:xfrm>
            <a:off x="676656" y="3447288"/>
            <a:ext cx="1536192" cy="1234440"/>
          </a:xfrm>
          <a:prstGeom prst="rect">
            <a:avLst/>
          </a:prstGeom>
          <a:noFill/>
          <a:ln/>
        </p:spPr>
        <p:txBody>
          <a:bodyPr wrap="square" lIns="0" tIns="0" rIns="0" bIns="0" rtlCol="0" anchor="ctr"/>
          <a:lstStyle/>
          <a:p>
            <a:pPr algn="ctr" indent="0" marL="0">
              <a:buNone/>
            </a:pPr>
            <a:r>
              <a:rPr lang="en-US" sz="1050" dirty="0">
                <a:solidFill>
                  <a:srgbClr val="AAB8CB"/>
                </a:solidFill>
              </a:rPr>
              <a:t>Zalo · web · giới thiệu — vào thẳng hệ thống, không lọt sổ</a:t>
            </a:r>
            <a:endParaRPr lang="en-US" sz="1050" dirty="0"/>
          </a:p>
        </p:txBody>
      </p:sp>
      <p:sp>
        <p:nvSpPr>
          <p:cNvPr id="12" name="Shape 9"/>
          <p:cNvSpPr/>
          <p:nvPr/>
        </p:nvSpPr>
        <p:spPr>
          <a:xfrm>
            <a:off x="2450592" y="1965960"/>
            <a:ext cx="1755648" cy="2834640"/>
          </a:xfrm>
          <a:prstGeom prst="roundRect">
            <a:avLst>
              <a:gd name="adj" fmla="val 4167"/>
            </a:avLst>
          </a:prstGeom>
          <a:solidFill>
            <a:srgbClr val="13243C"/>
          </a:solidFill>
          <a:ln w="12700">
            <a:solidFill>
              <a:srgbClr val="1B3152"/>
            </a:solidFill>
            <a:prstDash val="solid"/>
          </a:ln>
        </p:spPr>
      </p:sp>
      <p:sp>
        <p:nvSpPr>
          <p:cNvPr id="13" name="Shape 10"/>
          <p:cNvSpPr/>
          <p:nvPr/>
        </p:nvSpPr>
        <p:spPr>
          <a:xfrm>
            <a:off x="3044952" y="2240280"/>
            <a:ext cx="566928" cy="566928"/>
          </a:xfrm>
          <a:prstGeom prst="ellipse">
            <a:avLst/>
          </a:prstGeom>
          <a:solidFill>
            <a:srgbClr val="C9A96E"/>
          </a:solidFill>
          <a:ln/>
        </p:spPr>
      </p:sp>
      <p:pic>
        <p:nvPicPr>
          <p:cNvPr id="14" name="Image 1" descr="preencoded.png">    </p:cNvPr>
          <p:cNvPicPr>
            <a:picLocks noChangeAspect="1"/>
          </p:cNvPicPr>
          <p:nvPr/>
        </p:nvPicPr>
        <p:blipFill>
          <a:blip r:embed="rId2"/>
          <a:stretch>
            <a:fillRect/>
          </a:stretch>
        </p:blipFill>
        <p:spPr>
          <a:xfrm>
            <a:off x="3169676" y="2365004"/>
            <a:ext cx="317480" cy="317480"/>
          </a:xfrm>
          <a:prstGeom prst="rect">
            <a:avLst/>
          </a:prstGeom>
        </p:spPr>
      </p:pic>
      <p:sp>
        <p:nvSpPr>
          <p:cNvPr id="15" name="Text 11"/>
          <p:cNvSpPr/>
          <p:nvPr/>
        </p:nvSpPr>
        <p:spPr>
          <a:xfrm>
            <a:off x="3749040" y="2075688"/>
            <a:ext cx="365760" cy="274320"/>
          </a:xfrm>
          <a:prstGeom prst="rect">
            <a:avLst/>
          </a:prstGeom>
          <a:noFill/>
          <a:ln/>
        </p:spPr>
        <p:txBody>
          <a:bodyPr wrap="square" lIns="0" tIns="0" rIns="0" bIns="0" rtlCol="0" anchor="ctr"/>
          <a:lstStyle/>
          <a:p>
            <a:pPr algn="r" indent="0" marL="0">
              <a:buNone/>
            </a:pPr>
            <a:r>
              <a:rPr lang="en-US" sz="1200" b="1" dirty="0">
                <a:solidFill>
                  <a:srgbClr val="B8935A"/>
                </a:solidFill>
              </a:rPr>
              <a:t>2</a:t>
            </a:r>
            <a:endParaRPr lang="en-US" sz="1200" dirty="0"/>
          </a:p>
        </p:txBody>
      </p:sp>
      <p:sp>
        <p:nvSpPr>
          <p:cNvPr id="16" name="Text 12"/>
          <p:cNvSpPr/>
          <p:nvPr/>
        </p:nvSpPr>
        <p:spPr>
          <a:xfrm>
            <a:off x="2523744" y="2926080"/>
            <a:ext cx="1609344" cy="502920"/>
          </a:xfrm>
          <a:prstGeom prst="rect">
            <a:avLst/>
          </a:prstGeom>
          <a:noFill/>
          <a:ln/>
        </p:spPr>
        <p:txBody>
          <a:bodyPr wrap="square" lIns="0" tIns="0" rIns="0" bIns="0" rtlCol="0" anchor="ctr"/>
          <a:lstStyle/>
          <a:p>
            <a:pPr algn="ctr" indent="0" marL="0">
              <a:buNone/>
            </a:pPr>
            <a:r>
              <a:rPr lang="en-US" sz="1450" b="1" dirty="0">
                <a:solidFill>
                  <a:srgbClr val="FFFFFF"/>
                </a:solidFill>
              </a:rPr>
              <a:t>Báo giá 30 giây</a:t>
            </a:r>
            <a:endParaRPr lang="en-US" sz="1450" dirty="0"/>
          </a:p>
        </p:txBody>
      </p:sp>
      <p:sp>
        <p:nvSpPr>
          <p:cNvPr id="17" name="Text 13"/>
          <p:cNvSpPr/>
          <p:nvPr/>
        </p:nvSpPr>
        <p:spPr>
          <a:xfrm>
            <a:off x="2560320" y="3447288"/>
            <a:ext cx="1536192" cy="1234440"/>
          </a:xfrm>
          <a:prstGeom prst="rect">
            <a:avLst/>
          </a:prstGeom>
          <a:noFill/>
          <a:ln/>
        </p:spPr>
        <p:txBody>
          <a:bodyPr wrap="square" lIns="0" tIns="0" rIns="0" bIns="0" rtlCol="0" anchor="ctr"/>
          <a:lstStyle/>
          <a:p>
            <a:pPr algn="ctr" indent="0" marL="0">
              <a:buNone/>
            </a:pPr>
            <a:r>
              <a:rPr lang="en-US" sz="1050" dirty="0">
                <a:solidFill>
                  <a:srgbClr val="AAB8CB"/>
                </a:solidFill>
              </a:rPr>
              <a:t>Báo giá tức thì ngay tại nhà khách, chốt khi còn nóng</a:t>
            </a:r>
            <a:endParaRPr lang="en-US" sz="1050" dirty="0"/>
          </a:p>
        </p:txBody>
      </p:sp>
      <p:sp>
        <p:nvSpPr>
          <p:cNvPr id="18" name="Shape 14"/>
          <p:cNvSpPr/>
          <p:nvPr/>
        </p:nvSpPr>
        <p:spPr>
          <a:xfrm>
            <a:off x="4334256" y="1965960"/>
            <a:ext cx="1755648" cy="2834640"/>
          </a:xfrm>
          <a:prstGeom prst="roundRect">
            <a:avLst>
              <a:gd name="adj" fmla="val 4167"/>
            </a:avLst>
          </a:prstGeom>
          <a:solidFill>
            <a:srgbClr val="13243C"/>
          </a:solidFill>
          <a:ln w="12700">
            <a:solidFill>
              <a:srgbClr val="1B3152"/>
            </a:solidFill>
            <a:prstDash val="solid"/>
          </a:ln>
        </p:spPr>
      </p:sp>
      <p:sp>
        <p:nvSpPr>
          <p:cNvPr id="19" name="Shape 15"/>
          <p:cNvSpPr/>
          <p:nvPr/>
        </p:nvSpPr>
        <p:spPr>
          <a:xfrm>
            <a:off x="4928616" y="2240280"/>
            <a:ext cx="566928" cy="566928"/>
          </a:xfrm>
          <a:prstGeom prst="ellipse">
            <a:avLst/>
          </a:prstGeom>
          <a:solidFill>
            <a:srgbClr val="C9A96E"/>
          </a:solidFill>
          <a:ln/>
        </p:spPr>
      </p:sp>
      <p:pic>
        <p:nvPicPr>
          <p:cNvPr id="20" name="Image 2" descr="preencoded.png">    </p:cNvPr>
          <p:cNvPicPr>
            <a:picLocks noChangeAspect="1"/>
          </p:cNvPicPr>
          <p:nvPr/>
        </p:nvPicPr>
        <p:blipFill>
          <a:blip r:embed="rId3"/>
          <a:stretch>
            <a:fillRect/>
          </a:stretch>
        </p:blipFill>
        <p:spPr>
          <a:xfrm>
            <a:off x="5053340" y="2365004"/>
            <a:ext cx="317480" cy="317480"/>
          </a:xfrm>
          <a:prstGeom prst="rect">
            <a:avLst/>
          </a:prstGeom>
        </p:spPr>
      </p:pic>
      <p:sp>
        <p:nvSpPr>
          <p:cNvPr id="21" name="Text 16"/>
          <p:cNvSpPr/>
          <p:nvPr/>
        </p:nvSpPr>
        <p:spPr>
          <a:xfrm>
            <a:off x="5632704" y="2075688"/>
            <a:ext cx="365760" cy="274320"/>
          </a:xfrm>
          <a:prstGeom prst="rect">
            <a:avLst/>
          </a:prstGeom>
          <a:noFill/>
          <a:ln/>
        </p:spPr>
        <p:txBody>
          <a:bodyPr wrap="square" lIns="0" tIns="0" rIns="0" bIns="0" rtlCol="0" anchor="ctr"/>
          <a:lstStyle/>
          <a:p>
            <a:pPr algn="r" indent="0" marL="0">
              <a:buNone/>
            </a:pPr>
            <a:r>
              <a:rPr lang="en-US" sz="1200" b="1" dirty="0">
                <a:solidFill>
                  <a:srgbClr val="B8935A"/>
                </a:solidFill>
              </a:rPr>
              <a:t>3</a:t>
            </a:r>
            <a:endParaRPr lang="en-US" sz="1200" dirty="0"/>
          </a:p>
        </p:txBody>
      </p:sp>
      <p:sp>
        <p:nvSpPr>
          <p:cNvPr id="22" name="Text 17"/>
          <p:cNvSpPr/>
          <p:nvPr/>
        </p:nvSpPr>
        <p:spPr>
          <a:xfrm>
            <a:off x="4407408" y="2926080"/>
            <a:ext cx="1609344" cy="502920"/>
          </a:xfrm>
          <a:prstGeom prst="rect">
            <a:avLst/>
          </a:prstGeom>
          <a:noFill/>
          <a:ln/>
        </p:spPr>
        <p:txBody>
          <a:bodyPr wrap="square" lIns="0" tIns="0" rIns="0" bIns="0" rtlCol="0" anchor="ctr"/>
          <a:lstStyle/>
          <a:p>
            <a:pPr algn="ctr" indent="0" marL="0">
              <a:buNone/>
            </a:pPr>
            <a:r>
              <a:rPr lang="en-US" sz="1450" b="1" dirty="0">
                <a:solidFill>
                  <a:srgbClr val="FFFFFF"/>
                </a:solidFill>
              </a:rPr>
              <a:t>Hợp đồng</a:t>
            </a:r>
            <a:endParaRPr lang="en-US" sz="1450" dirty="0"/>
          </a:p>
        </p:txBody>
      </p:sp>
      <p:sp>
        <p:nvSpPr>
          <p:cNvPr id="23" name="Text 18"/>
          <p:cNvSpPr/>
          <p:nvPr/>
        </p:nvSpPr>
        <p:spPr>
          <a:xfrm>
            <a:off x="4443984" y="3447288"/>
            <a:ext cx="1536192" cy="1234440"/>
          </a:xfrm>
          <a:prstGeom prst="rect">
            <a:avLst/>
          </a:prstGeom>
          <a:noFill/>
          <a:ln/>
        </p:spPr>
        <p:txBody>
          <a:bodyPr wrap="square" lIns="0" tIns="0" rIns="0" bIns="0" rtlCol="0" anchor="ctr"/>
          <a:lstStyle/>
          <a:p>
            <a:pPr algn="ctr" indent="0" marL="0">
              <a:buNone/>
            </a:pPr>
            <a:r>
              <a:rPr lang="en-US" sz="1050" dirty="0">
                <a:solidFill>
                  <a:srgbClr val="AAB8CB"/>
                </a:solidFill>
              </a:rPr>
              <a:t>Đợt thanh toán rõ ràng, nhắc thu tự động</a:t>
            </a:r>
            <a:endParaRPr lang="en-US" sz="1050" dirty="0"/>
          </a:p>
        </p:txBody>
      </p:sp>
      <p:sp>
        <p:nvSpPr>
          <p:cNvPr id="24" name="Shape 19"/>
          <p:cNvSpPr/>
          <p:nvPr/>
        </p:nvSpPr>
        <p:spPr>
          <a:xfrm>
            <a:off x="6217920" y="1965960"/>
            <a:ext cx="1755648" cy="2834640"/>
          </a:xfrm>
          <a:prstGeom prst="roundRect">
            <a:avLst>
              <a:gd name="adj" fmla="val 4167"/>
            </a:avLst>
          </a:prstGeom>
          <a:solidFill>
            <a:srgbClr val="13243C"/>
          </a:solidFill>
          <a:ln w="12700">
            <a:solidFill>
              <a:srgbClr val="1B3152"/>
            </a:solidFill>
            <a:prstDash val="solid"/>
          </a:ln>
        </p:spPr>
      </p:sp>
      <p:sp>
        <p:nvSpPr>
          <p:cNvPr id="25" name="Shape 20"/>
          <p:cNvSpPr/>
          <p:nvPr/>
        </p:nvSpPr>
        <p:spPr>
          <a:xfrm>
            <a:off x="6812280" y="2240280"/>
            <a:ext cx="566928" cy="566928"/>
          </a:xfrm>
          <a:prstGeom prst="ellipse">
            <a:avLst/>
          </a:prstGeom>
          <a:solidFill>
            <a:srgbClr val="C9A96E"/>
          </a:solidFill>
          <a:ln/>
        </p:spPr>
      </p:sp>
      <p:pic>
        <p:nvPicPr>
          <p:cNvPr id="26" name="Image 3" descr="preencoded.png">    </p:cNvPr>
          <p:cNvPicPr>
            <a:picLocks noChangeAspect="1"/>
          </p:cNvPicPr>
          <p:nvPr/>
        </p:nvPicPr>
        <p:blipFill>
          <a:blip r:embed="rId4"/>
          <a:stretch>
            <a:fillRect/>
          </a:stretch>
        </p:blipFill>
        <p:spPr>
          <a:xfrm>
            <a:off x="6937004" y="2365004"/>
            <a:ext cx="317480" cy="317480"/>
          </a:xfrm>
          <a:prstGeom prst="rect">
            <a:avLst/>
          </a:prstGeom>
        </p:spPr>
      </p:pic>
      <p:sp>
        <p:nvSpPr>
          <p:cNvPr id="27" name="Text 21"/>
          <p:cNvSpPr/>
          <p:nvPr/>
        </p:nvSpPr>
        <p:spPr>
          <a:xfrm>
            <a:off x="7516368" y="2075688"/>
            <a:ext cx="365760" cy="274320"/>
          </a:xfrm>
          <a:prstGeom prst="rect">
            <a:avLst/>
          </a:prstGeom>
          <a:noFill/>
          <a:ln/>
        </p:spPr>
        <p:txBody>
          <a:bodyPr wrap="square" lIns="0" tIns="0" rIns="0" bIns="0" rtlCol="0" anchor="ctr"/>
          <a:lstStyle/>
          <a:p>
            <a:pPr algn="r" indent="0" marL="0">
              <a:buNone/>
            </a:pPr>
            <a:r>
              <a:rPr lang="en-US" sz="1200" b="1" dirty="0">
                <a:solidFill>
                  <a:srgbClr val="B8935A"/>
                </a:solidFill>
              </a:rPr>
              <a:t>4</a:t>
            </a:r>
            <a:endParaRPr lang="en-US" sz="1200" dirty="0"/>
          </a:p>
        </p:txBody>
      </p:sp>
      <p:sp>
        <p:nvSpPr>
          <p:cNvPr id="28" name="Text 22"/>
          <p:cNvSpPr/>
          <p:nvPr/>
        </p:nvSpPr>
        <p:spPr>
          <a:xfrm>
            <a:off x="6291072" y="2926080"/>
            <a:ext cx="1609344" cy="502920"/>
          </a:xfrm>
          <a:prstGeom prst="rect">
            <a:avLst/>
          </a:prstGeom>
          <a:noFill/>
          <a:ln/>
        </p:spPr>
        <p:txBody>
          <a:bodyPr wrap="square" lIns="0" tIns="0" rIns="0" bIns="0" rtlCol="0" anchor="ctr"/>
          <a:lstStyle/>
          <a:p>
            <a:pPr algn="ctr" indent="0" marL="0">
              <a:buNone/>
            </a:pPr>
            <a:r>
              <a:rPr lang="en-US" sz="1450" b="1" dirty="0">
                <a:solidFill>
                  <a:srgbClr val="FFFFFF"/>
                </a:solidFill>
              </a:rPr>
              <a:t>Thi công</a:t>
            </a:r>
            <a:endParaRPr lang="en-US" sz="1450" dirty="0"/>
          </a:p>
        </p:txBody>
      </p:sp>
      <p:sp>
        <p:nvSpPr>
          <p:cNvPr id="29" name="Text 23"/>
          <p:cNvSpPr/>
          <p:nvPr/>
        </p:nvSpPr>
        <p:spPr>
          <a:xfrm>
            <a:off x="6327648" y="3447288"/>
            <a:ext cx="1536192" cy="1234440"/>
          </a:xfrm>
          <a:prstGeom prst="rect">
            <a:avLst/>
          </a:prstGeom>
          <a:noFill/>
          <a:ln/>
        </p:spPr>
        <p:txBody>
          <a:bodyPr wrap="square" lIns="0" tIns="0" rIns="0" bIns="0" rtlCol="0" anchor="ctr"/>
          <a:lstStyle/>
          <a:p>
            <a:pPr algn="ctr" indent="0" marL="0">
              <a:buNone/>
            </a:pPr>
            <a:r>
              <a:rPr lang="en-US" sz="1050" dirty="0">
                <a:solidFill>
                  <a:srgbClr val="AAB8CB"/>
                </a:solidFill>
              </a:rPr>
              <a:t>Tiến độ 5 giai đoạn, vật tư, chấm công công trường</a:t>
            </a:r>
            <a:endParaRPr lang="en-US" sz="1050" dirty="0"/>
          </a:p>
        </p:txBody>
      </p:sp>
      <p:sp>
        <p:nvSpPr>
          <p:cNvPr id="30" name="Shape 24"/>
          <p:cNvSpPr/>
          <p:nvPr/>
        </p:nvSpPr>
        <p:spPr>
          <a:xfrm>
            <a:off x="8101584" y="1965960"/>
            <a:ext cx="1755648" cy="2834640"/>
          </a:xfrm>
          <a:prstGeom prst="roundRect">
            <a:avLst>
              <a:gd name="adj" fmla="val 4167"/>
            </a:avLst>
          </a:prstGeom>
          <a:solidFill>
            <a:srgbClr val="13243C"/>
          </a:solidFill>
          <a:ln w="12700">
            <a:solidFill>
              <a:srgbClr val="1B3152"/>
            </a:solidFill>
            <a:prstDash val="solid"/>
          </a:ln>
        </p:spPr>
      </p:sp>
      <p:sp>
        <p:nvSpPr>
          <p:cNvPr id="31" name="Shape 25"/>
          <p:cNvSpPr/>
          <p:nvPr/>
        </p:nvSpPr>
        <p:spPr>
          <a:xfrm>
            <a:off x="8695944" y="2240280"/>
            <a:ext cx="566928" cy="566928"/>
          </a:xfrm>
          <a:prstGeom prst="ellipse">
            <a:avLst/>
          </a:prstGeom>
          <a:solidFill>
            <a:srgbClr val="C9A96E"/>
          </a:solidFill>
          <a:ln/>
        </p:spPr>
      </p:sp>
      <p:pic>
        <p:nvPicPr>
          <p:cNvPr id="32" name="Image 4" descr="preencoded.png">    </p:cNvPr>
          <p:cNvPicPr>
            <a:picLocks noChangeAspect="1"/>
          </p:cNvPicPr>
          <p:nvPr/>
        </p:nvPicPr>
        <p:blipFill>
          <a:blip r:embed="rId5"/>
          <a:stretch>
            <a:fillRect/>
          </a:stretch>
        </p:blipFill>
        <p:spPr>
          <a:xfrm>
            <a:off x="8820668" y="2365004"/>
            <a:ext cx="317480" cy="317480"/>
          </a:xfrm>
          <a:prstGeom prst="rect">
            <a:avLst/>
          </a:prstGeom>
        </p:spPr>
      </p:pic>
      <p:sp>
        <p:nvSpPr>
          <p:cNvPr id="33" name="Text 26"/>
          <p:cNvSpPr/>
          <p:nvPr/>
        </p:nvSpPr>
        <p:spPr>
          <a:xfrm>
            <a:off x="9400032" y="2075688"/>
            <a:ext cx="365760" cy="274320"/>
          </a:xfrm>
          <a:prstGeom prst="rect">
            <a:avLst/>
          </a:prstGeom>
          <a:noFill/>
          <a:ln/>
        </p:spPr>
        <p:txBody>
          <a:bodyPr wrap="square" lIns="0" tIns="0" rIns="0" bIns="0" rtlCol="0" anchor="ctr"/>
          <a:lstStyle/>
          <a:p>
            <a:pPr algn="r" indent="0" marL="0">
              <a:buNone/>
            </a:pPr>
            <a:r>
              <a:rPr lang="en-US" sz="1200" b="1" dirty="0">
                <a:solidFill>
                  <a:srgbClr val="B8935A"/>
                </a:solidFill>
              </a:rPr>
              <a:t>5</a:t>
            </a:r>
            <a:endParaRPr lang="en-US" sz="1200" dirty="0"/>
          </a:p>
        </p:txBody>
      </p:sp>
      <p:sp>
        <p:nvSpPr>
          <p:cNvPr id="34" name="Text 27"/>
          <p:cNvSpPr/>
          <p:nvPr/>
        </p:nvSpPr>
        <p:spPr>
          <a:xfrm>
            <a:off x="8174736" y="2926080"/>
            <a:ext cx="1609344" cy="502920"/>
          </a:xfrm>
          <a:prstGeom prst="rect">
            <a:avLst/>
          </a:prstGeom>
          <a:noFill/>
          <a:ln/>
        </p:spPr>
        <p:txBody>
          <a:bodyPr wrap="square" lIns="0" tIns="0" rIns="0" bIns="0" rtlCol="0" anchor="ctr"/>
          <a:lstStyle/>
          <a:p>
            <a:pPr algn="ctr" indent="0" marL="0">
              <a:buNone/>
            </a:pPr>
            <a:r>
              <a:rPr lang="en-US" sz="1450" b="1" dirty="0">
                <a:solidFill>
                  <a:srgbClr val="FFFFFF"/>
                </a:solidFill>
              </a:rPr>
              <a:t>Nghiệm thu số</a:t>
            </a:r>
            <a:endParaRPr lang="en-US" sz="1450" dirty="0"/>
          </a:p>
        </p:txBody>
      </p:sp>
      <p:sp>
        <p:nvSpPr>
          <p:cNvPr id="35" name="Text 28"/>
          <p:cNvSpPr/>
          <p:nvPr/>
        </p:nvSpPr>
        <p:spPr>
          <a:xfrm>
            <a:off x="8211312" y="3447288"/>
            <a:ext cx="1536192" cy="1234440"/>
          </a:xfrm>
          <a:prstGeom prst="rect">
            <a:avLst/>
          </a:prstGeom>
          <a:noFill/>
          <a:ln/>
        </p:spPr>
        <p:txBody>
          <a:bodyPr wrap="square" lIns="0" tIns="0" rIns="0" bIns="0" rtlCol="0" anchor="ctr"/>
          <a:lstStyle/>
          <a:p>
            <a:pPr algn="ctr" indent="0" marL="0">
              <a:buNone/>
            </a:pPr>
            <a:r>
              <a:rPr lang="en-US" sz="1050" dirty="0">
                <a:solidFill>
                  <a:srgbClr val="AAB8CB"/>
                </a:solidFill>
              </a:rPr>
              <a:t>Khách xác nhận online từng giai đoạn — minh bạch</a:t>
            </a:r>
            <a:endParaRPr lang="en-US" sz="1050" dirty="0"/>
          </a:p>
        </p:txBody>
      </p:sp>
      <p:sp>
        <p:nvSpPr>
          <p:cNvPr id="36" name="Shape 29"/>
          <p:cNvSpPr/>
          <p:nvPr/>
        </p:nvSpPr>
        <p:spPr>
          <a:xfrm>
            <a:off x="9985248" y="1965960"/>
            <a:ext cx="1755648" cy="2834640"/>
          </a:xfrm>
          <a:prstGeom prst="roundRect">
            <a:avLst>
              <a:gd name="adj" fmla="val 4167"/>
            </a:avLst>
          </a:prstGeom>
          <a:solidFill>
            <a:srgbClr val="13243C"/>
          </a:solidFill>
          <a:ln w="12700">
            <a:solidFill>
              <a:srgbClr val="1B3152"/>
            </a:solidFill>
            <a:prstDash val="solid"/>
          </a:ln>
        </p:spPr>
      </p:sp>
      <p:sp>
        <p:nvSpPr>
          <p:cNvPr id="37" name="Shape 30"/>
          <p:cNvSpPr/>
          <p:nvPr/>
        </p:nvSpPr>
        <p:spPr>
          <a:xfrm>
            <a:off x="10579608" y="2240280"/>
            <a:ext cx="566928" cy="566928"/>
          </a:xfrm>
          <a:prstGeom prst="ellipse">
            <a:avLst/>
          </a:prstGeom>
          <a:solidFill>
            <a:srgbClr val="C9A96E"/>
          </a:solidFill>
          <a:ln/>
        </p:spPr>
      </p:sp>
      <p:pic>
        <p:nvPicPr>
          <p:cNvPr id="38" name="Image 5" descr="preencoded.png">    </p:cNvPr>
          <p:cNvPicPr>
            <a:picLocks noChangeAspect="1"/>
          </p:cNvPicPr>
          <p:nvPr/>
        </p:nvPicPr>
        <p:blipFill>
          <a:blip r:embed="rId6"/>
          <a:stretch>
            <a:fillRect/>
          </a:stretch>
        </p:blipFill>
        <p:spPr>
          <a:xfrm>
            <a:off x="10704332" y="2365004"/>
            <a:ext cx="317480" cy="317480"/>
          </a:xfrm>
          <a:prstGeom prst="rect">
            <a:avLst/>
          </a:prstGeom>
        </p:spPr>
      </p:pic>
      <p:sp>
        <p:nvSpPr>
          <p:cNvPr id="39" name="Text 31"/>
          <p:cNvSpPr/>
          <p:nvPr/>
        </p:nvSpPr>
        <p:spPr>
          <a:xfrm>
            <a:off x="11283696" y="2075688"/>
            <a:ext cx="365760" cy="274320"/>
          </a:xfrm>
          <a:prstGeom prst="rect">
            <a:avLst/>
          </a:prstGeom>
          <a:noFill/>
          <a:ln/>
        </p:spPr>
        <p:txBody>
          <a:bodyPr wrap="square" lIns="0" tIns="0" rIns="0" bIns="0" rtlCol="0" anchor="ctr"/>
          <a:lstStyle/>
          <a:p>
            <a:pPr algn="r" indent="0" marL="0">
              <a:buNone/>
            </a:pPr>
            <a:r>
              <a:rPr lang="en-US" sz="1200" b="1" dirty="0">
                <a:solidFill>
                  <a:srgbClr val="B8935A"/>
                </a:solidFill>
              </a:rPr>
              <a:t>6</a:t>
            </a:r>
            <a:endParaRPr lang="en-US" sz="1200" dirty="0"/>
          </a:p>
        </p:txBody>
      </p:sp>
      <p:sp>
        <p:nvSpPr>
          <p:cNvPr id="40" name="Text 32"/>
          <p:cNvSpPr/>
          <p:nvPr/>
        </p:nvSpPr>
        <p:spPr>
          <a:xfrm>
            <a:off x="10058400" y="2926080"/>
            <a:ext cx="1609344" cy="502920"/>
          </a:xfrm>
          <a:prstGeom prst="rect">
            <a:avLst/>
          </a:prstGeom>
          <a:noFill/>
          <a:ln/>
        </p:spPr>
        <p:txBody>
          <a:bodyPr wrap="square" lIns="0" tIns="0" rIns="0" bIns="0" rtlCol="0" anchor="ctr"/>
          <a:lstStyle/>
          <a:p>
            <a:pPr algn="ctr" indent="0" marL="0">
              <a:buNone/>
            </a:pPr>
            <a:r>
              <a:rPr lang="en-US" sz="1450" b="1" dirty="0">
                <a:solidFill>
                  <a:srgbClr val="FFFFFF"/>
                </a:solidFill>
              </a:rPr>
              <a:t>Bảo hành</a:t>
            </a:r>
            <a:endParaRPr lang="en-US" sz="1450" dirty="0"/>
          </a:p>
        </p:txBody>
      </p:sp>
      <p:sp>
        <p:nvSpPr>
          <p:cNvPr id="41" name="Text 33"/>
          <p:cNvSpPr/>
          <p:nvPr/>
        </p:nvSpPr>
        <p:spPr>
          <a:xfrm>
            <a:off x="10094976" y="3447288"/>
            <a:ext cx="1536192" cy="1234440"/>
          </a:xfrm>
          <a:prstGeom prst="rect">
            <a:avLst/>
          </a:prstGeom>
          <a:noFill/>
          <a:ln/>
        </p:spPr>
        <p:txBody>
          <a:bodyPr wrap="square" lIns="0" tIns="0" rIns="0" bIns="0" rtlCol="0" anchor="ctr"/>
          <a:lstStyle/>
          <a:p>
            <a:pPr algn="ctr" indent="0" marL="0">
              <a:buNone/>
            </a:pPr>
            <a:r>
              <a:rPr lang="en-US" sz="1050" dirty="0">
                <a:solidFill>
                  <a:srgbClr val="AAB8CB"/>
                </a:solidFill>
              </a:rPr>
              <a:t>Hệ thống tự nhắc trước khi hết hạn — chăm khách trọn đời</a:t>
            </a:r>
            <a:endParaRPr lang="en-US" sz="1050" dirty="0"/>
          </a:p>
        </p:txBody>
      </p:sp>
      <p:sp>
        <p:nvSpPr>
          <p:cNvPr id="42" name="Text 34"/>
          <p:cNvSpPr/>
          <p:nvPr/>
        </p:nvSpPr>
        <p:spPr>
          <a:xfrm>
            <a:off x="566928" y="5257800"/>
            <a:ext cx="11064240" cy="457200"/>
          </a:xfrm>
          <a:prstGeom prst="rect">
            <a:avLst/>
          </a:prstGeom>
          <a:noFill/>
          <a:ln/>
        </p:spPr>
        <p:txBody>
          <a:bodyPr wrap="square" lIns="0" tIns="0" rIns="0" bIns="0" rtlCol="0" anchor="ctr"/>
          <a:lstStyle/>
          <a:p>
            <a:pPr algn="ctr" indent="0" marL="0">
              <a:buNone/>
            </a:pPr>
            <a:r>
              <a:rPr lang="en-US" sz="1450" i="1" dirty="0">
                <a:solidFill>
                  <a:srgbClr val="C9A96E"/>
                </a:solidFill>
              </a:rPr>
              <a:t>Mỗi bước đều được hệ thống theo dõi &amp; nhắc việc — không khách hàng nào bị bỏ quên, không khâu nào đứt gãy.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DÀNH CHO ĐỘI KINH DOANH</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Chốt nhanh hơn — thu nhập cao hơn</a:t>
            </a:r>
            <a:endParaRPr lang="en-US" sz="3300" dirty="0"/>
          </a:p>
        </p:txBody>
      </p:sp>
      <p:sp>
        <p:nvSpPr>
          <p:cNvPr id="6" name="Shape 4"/>
          <p:cNvSpPr/>
          <p:nvPr/>
        </p:nvSpPr>
        <p:spPr>
          <a:xfrm>
            <a:off x="566928" y="1673352"/>
            <a:ext cx="512064" cy="512064"/>
          </a:xfrm>
          <a:prstGeom prst="ellipse">
            <a:avLst/>
          </a:prstGeom>
          <a:solidFill>
            <a:srgbClr val="C9A96E"/>
          </a:solidFill>
          <a:ln/>
        </p:spPr>
      </p:sp>
      <p:pic>
        <p:nvPicPr>
          <p:cNvPr id="7" name="Image 0" descr="preencoded.png">    </p:cNvPr>
          <p:cNvPicPr>
            <a:picLocks noChangeAspect="1"/>
          </p:cNvPicPr>
          <p:nvPr/>
        </p:nvPicPr>
        <p:blipFill>
          <a:blip r:embed="rId1"/>
          <a:stretch>
            <a:fillRect/>
          </a:stretch>
        </p:blipFill>
        <p:spPr>
          <a:xfrm>
            <a:off x="679582" y="1786006"/>
            <a:ext cx="286756" cy="286756"/>
          </a:xfrm>
          <a:prstGeom prst="rect">
            <a:avLst/>
          </a:prstGeom>
        </p:spPr>
      </p:pic>
      <p:sp>
        <p:nvSpPr>
          <p:cNvPr id="8" name="Text 5"/>
          <p:cNvSpPr/>
          <p:nvPr/>
        </p:nvSpPr>
        <p:spPr>
          <a:xfrm>
            <a:off x="1280160" y="159105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Báo giá tức thì ngay tại nhà khách</a:t>
            </a:r>
            <a:endParaRPr lang="en-US" sz="1650" dirty="0"/>
          </a:p>
        </p:txBody>
      </p:sp>
      <p:sp>
        <p:nvSpPr>
          <p:cNvPr id="9" name="Text 6"/>
          <p:cNvSpPr/>
          <p:nvPr/>
        </p:nvSpPr>
        <p:spPr>
          <a:xfrm>
            <a:off x="1280160" y="1901952"/>
            <a:ext cx="6144768" cy="566928"/>
          </a:xfrm>
          <a:prstGeom prst="rect">
            <a:avLst/>
          </a:prstGeom>
          <a:noFill/>
          <a:ln/>
        </p:spPr>
        <p:txBody>
          <a:bodyPr wrap="square" lIns="0" tIns="0" rIns="0" bIns="0" rtlCol="0" anchor="ctr"/>
          <a:lstStyle/>
          <a:p>
            <a:pPr indent="0" marL="0">
              <a:buNone/>
            </a:pPr>
            <a:r>
              <a:rPr lang="en-US" sz="1250" dirty="0">
                <a:solidFill>
                  <a:srgbClr val="AAB8CB"/>
                </a:solidFill>
              </a:rPr>
              <a:t>Chọn diện tích, phong cách — 30 giây có bảng giá chuyên nghiệp. Chốt khi khách còn đang hào hứng.</a:t>
            </a:r>
            <a:endParaRPr lang="en-US" sz="1250" dirty="0"/>
          </a:p>
        </p:txBody>
      </p:sp>
      <p:sp>
        <p:nvSpPr>
          <p:cNvPr id="10" name="Shape 7"/>
          <p:cNvSpPr/>
          <p:nvPr/>
        </p:nvSpPr>
        <p:spPr>
          <a:xfrm>
            <a:off x="566928" y="2679192"/>
            <a:ext cx="512064" cy="512064"/>
          </a:xfrm>
          <a:prstGeom prst="ellipse">
            <a:avLst/>
          </a:prstGeom>
          <a:solidFill>
            <a:srgbClr val="C9A96E"/>
          </a:solidFill>
          <a:ln/>
        </p:spPr>
      </p:sp>
      <p:pic>
        <p:nvPicPr>
          <p:cNvPr id="11" name="Image 1" descr="preencoded.png">    </p:cNvPr>
          <p:cNvPicPr>
            <a:picLocks noChangeAspect="1"/>
          </p:cNvPicPr>
          <p:nvPr/>
        </p:nvPicPr>
        <p:blipFill>
          <a:blip r:embed="rId2"/>
          <a:stretch>
            <a:fillRect/>
          </a:stretch>
        </p:blipFill>
        <p:spPr>
          <a:xfrm>
            <a:off x="679582" y="2791846"/>
            <a:ext cx="286756" cy="286756"/>
          </a:xfrm>
          <a:prstGeom prst="rect">
            <a:avLst/>
          </a:prstGeom>
        </p:spPr>
      </p:pic>
      <p:sp>
        <p:nvSpPr>
          <p:cNvPr id="12" name="Text 8"/>
          <p:cNvSpPr/>
          <p:nvPr/>
        </p:nvSpPr>
        <p:spPr>
          <a:xfrm>
            <a:off x="1280160" y="259689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Không còn lead bị quên</a:t>
            </a:r>
            <a:endParaRPr lang="en-US" sz="1650" dirty="0"/>
          </a:p>
        </p:txBody>
      </p:sp>
      <p:sp>
        <p:nvSpPr>
          <p:cNvPr id="13" name="Text 9"/>
          <p:cNvSpPr/>
          <p:nvPr/>
        </p:nvSpPr>
        <p:spPr>
          <a:xfrm>
            <a:off x="1280160" y="2907792"/>
            <a:ext cx="6144768" cy="566928"/>
          </a:xfrm>
          <a:prstGeom prst="rect">
            <a:avLst/>
          </a:prstGeom>
          <a:noFill/>
          <a:ln/>
        </p:spPr>
        <p:txBody>
          <a:bodyPr wrap="square" lIns="0" tIns="0" rIns="0" bIns="0" rtlCol="0" anchor="ctr"/>
          <a:lstStyle/>
          <a:p>
            <a:pPr indent="0" marL="0">
              <a:buNone/>
            </a:pPr>
            <a:r>
              <a:rPr lang="en-US" sz="1250" dirty="0">
                <a:solidFill>
                  <a:srgbClr val="AAB8CB"/>
                </a:solidFill>
              </a:rPr>
              <a:t>Hệ thống tự nhắc chăm sóc sau 3 ngày; lead bỏ bê sẽ chuyển người khác — ai chăm chỉ người đó có khách.</a:t>
            </a:r>
            <a:endParaRPr lang="en-US" sz="1250" dirty="0"/>
          </a:p>
        </p:txBody>
      </p:sp>
      <p:sp>
        <p:nvSpPr>
          <p:cNvPr id="14" name="Shape 10"/>
          <p:cNvSpPr/>
          <p:nvPr/>
        </p:nvSpPr>
        <p:spPr>
          <a:xfrm>
            <a:off x="566928" y="3685032"/>
            <a:ext cx="512064" cy="512064"/>
          </a:xfrm>
          <a:prstGeom prst="ellipse">
            <a:avLst/>
          </a:prstGeom>
          <a:solidFill>
            <a:srgbClr val="C9A96E"/>
          </a:solidFill>
          <a:ln/>
        </p:spPr>
      </p:sp>
      <p:pic>
        <p:nvPicPr>
          <p:cNvPr id="15" name="Image 2" descr="preencoded.png">    </p:cNvPr>
          <p:cNvPicPr>
            <a:picLocks noChangeAspect="1"/>
          </p:cNvPicPr>
          <p:nvPr/>
        </p:nvPicPr>
        <p:blipFill>
          <a:blip r:embed="rId3"/>
          <a:stretch>
            <a:fillRect/>
          </a:stretch>
        </p:blipFill>
        <p:spPr>
          <a:xfrm>
            <a:off x="679582" y="3797686"/>
            <a:ext cx="286756" cy="286756"/>
          </a:xfrm>
          <a:prstGeom prst="rect">
            <a:avLst/>
          </a:prstGeom>
        </p:spPr>
      </p:pic>
      <p:sp>
        <p:nvSpPr>
          <p:cNvPr id="16" name="Text 11"/>
          <p:cNvSpPr/>
          <p:nvPr/>
        </p:nvSpPr>
        <p:spPr>
          <a:xfrm>
            <a:off x="1280160" y="360273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Hoa hồng minh bạch từng hợp đồng</a:t>
            </a:r>
            <a:endParaRPr lang="en-US" sz="1650" dirty="0"/>
          </a:p>
        </p:txBody>
      </p:sp>
      <p:sp>
        <p:nvSpPr>
          <p:cNvPr id="17" name="Text 12"/>
          <p:cNvSpPr/>
          <p:nvPr/>
        </p:nvSpPr>
        <p:spPr>
          <a:xfrm>
            <a:off x="1280160" y="3913632"/>
            <a:ext cx="6144768" cy="566928"/>
          </a:xfrm>
          <a:prstGeom prst="rect">
            <a:avLst/>
          </a:prstGeom>
          <a:noFill/>
          <a:ln/>
        </p:spPr>
        <p:txBody>
          <a:bodyPr wrap="square" lIns="0" tIns="0" rIns="0" bIns="0" rtlCol="0" anchor="ctr"/>
          <a:lstStyle/>
          <a:p>
            <a:pPr indent="0" marL="0">
              <a:buNone/>
            </a:pPr>
            <a:r>
              <a:rPr lang="en-US" sz="1250" dirty="0">
                <a:solidFill>
                  <a:srgbClr val="AAB8CB"/>
                </a:solidFill>
              </a:rPr>
              <a:t>Ký xong thấy ngay hoa hồng của mình trên hệ thống. Rõ ràng — không phải hỏi, không phải đợi.</a:t>
            </a:r>
            <a:endParaRPr lang="en-US" sz="1250" dirty="0"/>
          </a:p>
        </p:txBody>
      </p:sp>
      <p:sp>
        <p:nvSpPr>
          <p:cNvPr id="18" name="Shape 13"/>
          <p:cNvSpPr/>
          <p:nvPr/>
        </p:nvSpPr>
        <p:spPr>
          <a:xfrm>
            <a:off x="566928" y="4690872"/>
            <a:ext cx="512064" cy="512064"/>
          </a:xfrm>
          <a:prstGeom prst="ellipse">
            <a:avLst/>
          </a:prstGeom>
          <a:solidFill>
            <a:srgbClr val="C9A96E"/>
          </a:solidFill>
          <a:ln/>
        </p:spPr>
      </p:sp>
      <p:pic>
        <p:nvPicPr>
          <p:cNvPr id="19" name="Image 3" descr="preencoded.png">    </p:cNvPr>
          <p:cNvPicPr>
            <a:picLocks noChangeAspect="1"/>
          </p:cNvPicPr>
          <p:nvPr/>
        </p:nvPicPr>
        <p:blipFill>
          <a:blip r:embed="rId4"/>
          <a:stretch>
            <a:fillRect/>
          </a:stretch>
        </p:blipFill>
        <p:spPr>
          <a:xfrm>
            <a:off x="679582" y="4803526"/>
            <a:ext cx="286756" cy="286756"/>
          </a:xfrm>
          <a:prstGeom prst="rect">
            <a:avLst/>
          </a:prstGeom>
        </p:spPr>
      </p:pic>
      <p:sp>
        <p:nvSpPr>
          <p:cNvPr id="20" name="Text 14"/>
          <p:cNvSpPr/>
          <p:nvPr/>
        </p:nvSpPr>
        <p:spPr>
          <a:xfrm>
            <a:off x="1280160" y="460857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KPI &amp; bảng xếp hạng công khai</a:t>
            </a:r>
            <a:endParaRPr lang="en-US" sz="1650" dirty="0"/>
          </a:p>
        </p:txBody>
      </p:sp>
      <p:sp>
        <p:nvSpPr>
          <p:cNvPr id="21" name="Text 15"/>
          <p:cNvSpPr/>
          <p:nvPr/>
        </p:nvSpPr>
        <p:spPr>
          <a:xfrm>
            <a:off x="1280160" y="4919472"/>
            <a:ext cx="6144768" cy="566928"/>
          </a:xfrm>
          <a:prstGeom prst="rect">
            <a:avLst/>
          </a:prstGeom>
          <a:noFill/>
          <a:ln/>
        </p:spPr>
        <p:txBody>
          <a:bodyPr wrap="square" lIns="0" tIns="0" rIns="0" bIns="0" rtlCol="0" anchor="ctr"/>
          <a:lstStyle/>
          <a:p>
            <a:pPr indent="0" marL="0">
              <a:buNone/>
            </a:pPr>
            <a:r>
              <a:rPr lang="en-US" sz="1250" dirty="0">
                <a:solidFill>
                  <a:srgbClr val="AAB8CB"/>
                </a:solidFill>
              </a:rPr>
              <a:t>Nỗ lực được ghi nhận bằng con số. Làm tốt — cả công ty đều thấy.</a:t>
            </a:r>
            <a:endParaRPr lang="en-US" sz="1250" dirty="0"/>
          </a:p>
        </p:txBody>
      </p:sp>
      <p:sp>
        <p:nvSpPr>
          <p:cNvPr id="22" name="Shape 16"/>
          <p:cNvSpPr/>
          <p:nvPr/>
        </p:nvSpPr>
        <p:spPr>
          <a:xfrm>
            <a:off x="7863840" y="1645920"/>
            <a:ext cx="3794760" cy="4114800"/>
          </a:xfrm>
          <a:prstGeom prst="roundRect">
            <a:avLst>
              <a:gd name="adj" fmla="val 2410"/>
            </a:avLst>
          </a:prstGeom>
          <a:solidFill>
            <a:srgbClr val="13243C"/>
          </a:solidFill>
          <a:ln w="12700">
            <a:solidFill>
              <a:srgbClr val="B8935A"/>
            </a:solidFill>
            <a:prstDash val="solid"/>
          </a:ln>
        </p:spPr>
      </p:sp>
      <p:sp>
        <p:nvSpPr>
          <p:cNvPr id="23" name="Text 17"/>
          <p:cNvSpPr/>
          <p:nvPr/>
        </p:nvSpPr>
        <p:spPr>
          <a:xfrm>
            <a:off x="8001000" y="1965960"/>
            <a:ext cx="3520440" cy="822960"/>
          </a:xfrm>
          <a:prstGeom prst="rect">
            <a:avLst/>
          </a:prstGeom>
          <a:noFill/>
          <a:ln/>
        </p:spPr>
        <p:txBody>
          <a:bodyPr wrap="square" lIns="0" tIns="0" rIns="0" bIns="0" rtlCol="0" anchor="ctr"/>
          <a:lstStyle/>
          <a:p>
            <a:pPr algn="ctr" indent="0" marL="0">
              <a:buNone/>
            </a:pPr>
            <a:r>
              <a:rPr lang="en-US" sz="4800" b="1" dirty="0">
                <a:solidFill>
                  <a:srgbClr val="C9A96E"/>
                </a:solidFill>
                <a:latin typeface="Cambria" pitchFamily="34" charset="0"/>
                <a:ea typeface="Cambria" pitchFamily="34" charset="-122"/>
                <a:cs typeface="Cambria" pitchFamily="34" charset="-120"/>
              </a:rPr>
              <a:t>30 giây</a:t>
            </a:r>
            <a:endParaRPr lang="en-US" sz="4800" dirty="0"/>
          </a:p>
        </p:txBody>
      </p:sp>
      <p:sp>
        <p:nvSpPr>
          <p:cNvPr id="24" name="Text 18"/>
          <p:cNvSpPr/>
          <p:nvPr/>
        </p:nvSpPr>
        <p:spPr>
          <a:xfrm>
            <a:off x="8001000" y="2788920"/>
            <a:ext cx="3520440" cy="320040"/>
          </a:xfrm>
          <a:prstGeom prst="rect">
            <a:avLst/>
          </a:prstGeom>
          <a:noFill/>
          <a:ln/>
        </p:spPr>
        <p:txBody>
          <a:bodyPr wrap="square" lIns="0" tIns="0" rIns="0" bIns="0" rtlCol="0" anchor="ctr"/>
          <a:lstStyle/>
          <a:p>
            <a:pPr algn="ctr" indent="0" marL="0">
              <a:buNone/>
            </a:pPr>
            <a:r>
              <a:rPr lang="en-US" sz="1300" dirty="0">
                <a:solidFill>
                  <a:srgbClr val="FFFFFF"/>
                </a:solidFill>
              </a:rPr>
              <a:t>từ hỏi giá đến bảng báo giá</a:t>
            </a:r>
            <a:endParaRPr lang="en-US" sz="1300" dirty="0"/>
          </a:p>
        </p:txBody>
      </p:sp>
      <p:sp>
        <p:nvSpPr>
          <p:cNvPr id="25" name="Shape 19"/>
          <p:cNvSpPr/>
          <p:nvPr/>
        </p:nvSpPr>
        <p:spPr>
          <a:xfrm>
            <a:off x="8595360" y="3383280"/>
            <a:ext cx="2331720" cy="0"/>
          </a:xfrm>
          <a:prstGeom prst="line">
            <a:avLst/>
          </a:prstGeom>
          <a:noFill/>
          <a:ln w="12700">
            <a:solidFill>
              <a:srgbClr val="1B3152"/>
            </a:solidFill>
            <a:prstDash val="solid"/>
          </a:ln>
        </p:spPr>
      </p:sp>
      <p:sp>
        <p:nvSpPr>
          <p:cNvPr id="26" name="Text 20"/>
          <p:cNvSpPr/>
          <p:nvPr/>
        </p:nvSpPr>
        <p:spPr>
          <a:xfrm>
            <a:off x="8001000" y="3611880"/>
            <a:ext cx="3520440" cy="731520"/>
          </a:xfrm>
          <a:prstGeom prst="rect">
            <a:avLst/>
          </a:prstGeom>
          <a:noFill/>
          <a:ln/>
        </p:spPr>
        <p:txBody>
          <a:bodyPr wrap="square" lIns="0" tIns="0" rIns="0" bIns="0" rtlCol="0" anchor="ctr"/>
          <a:lstStyle/>
          <a:p>
            <a:pPr algn="ctr" indent="0" marL="0">
              <a:buNone/>
            </a:pPr>
            <a:r>
              <a:rPr lang="en-US" sz="4800" b="1" dirty="0">
                <a:solidFill>
                  <a:srgbClr val="34D399"/>
                </a:solidFill>
                <a:latin typeface="Cambria" pitchFamily="34" charset="0"/>
                <a:ea typeface="Cambria" pitchFamily="34" charset="-122"/>
                <a:cs typeface="Cambria" pitchFamily="34" charset="-120"/>
              </a:rPr>
              <a:t>0</a:t>
            </a:r>
            <a:endParaRPr lang="en-US" sz="4800" dirty="0"/>
          </a:p>
        </p:txBody>
      </p:sp>
      <p:sp>
        <p:nvSpPr>
          <p:cNvPr id="27" name="Text 21"/>
          <p:cNvSpPr/>
          <p:nvPr/>
        </p:nvSpPr>
        <p:spPr>
          <a:xfrm>
            <a:off x="8001000" y="4370832"/>
            <a:ext cx="3520440" cy="320040"/>
          </a:xfrm>
          <a:prstGeom prst="rect">
            <a:avLst/>
          </a:prstGeom>
          <a:noFill/>
          <a:ln/>
        </p:spPr>
        <p:txBody>
          <a:bodyPr wrap="square" lIns="0" tIns="0" rIns="0" bIns="0" rtlCol="0" anchor="ctr"/>
          <a:lstStyle/>
          <a:p>
            <a:pPr algn="ctr" indent="0" marL="0">
              <a:buNone/>
            </a:pPr>
            <a:r>
              <a:rPr lang="en-US" sz="1300" dirty="0">
                <a:solidFill>
                  <a:srgbClr val="FFFFFF"/>
                </a:solidFill>
              </a:rPr>
              <a:t>khách hàng bị bỏ quên</a:t>
            </a:r>
            <a:endParaRPr lang="en-US" sz="1300" dirty="0"/>
          </a:p>
        </p:txBody>
      </p:sp>
      <p:sp>
        <p:nvSpPr>
          <p:cNvPr id="28" name="Text 22"/>
          <p:cNvSpPr/>
          <p:nvPr/>
        </p:nvSpPr>
        <p:spPr>
          <a:xfrm>
            <a:off x="8001000" y="5029200"/>
            <a:ext cx="3520440" cy="548640"/>
          </a:xfrm>
          <a:prstGeom prst="rect">
            <a:avLst/>
          </a:prstGeom>
          <a:noFill/>
          <a:ln/>
        </p:spPr>
        <p:txBody>
          <a:bodyPr wrap="square" lIns="0" tIns="0" rIns="0" bIns="0" rtlCol="0" anchor="ctr"/>
          <a:lstStyle/>
          <a:p>
            <a:pPr algn="ctr" indent="0" marL="0">
              <a:buNone/>
            </a:pPr>
            <a:r>
              <a:rPr lang="en-US" sz="1250" i="1" dirty="0">
                <a:solidFill>
                  <a:srgbClr val="C9A96E"/>
                </a:solidFill>
              </a:rPr>
              <a:t>Chốt nhiều hơn = thu nhập nhiều hơn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DÀNH CHO GIÁM SÁT &amp; ĐỘI THI CÔNG</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Cả công trường nằm gọn trong túi áo</a:t>
            </a:r>
            <a:endParaRPr lang="en-US" sz="3300" dirty="0"/>
          </a:p>
        </p:txBody>
      </p:sp>
      <p:sp>
        <p:nvSpPr>
          <p:cNvPr id="6" name="Shape 4"/>
          <p:cNvSpPr/>
          <p:nvPr/>
        </p:nvSpPr>
        <p:spPr>
          <a:xfrm>
            <a:off x="566928" y="1645920"/>
            <a:ext cx="3794760" cy="4114800"/>
          </a:xfrm>
          <a:prstGeom prst="roundRect">
            <a:avLst>
              <a:gd name="adj" fmla="val 2410"/>
            </a:avLst>
          </a:prstGeom>
          <a:solidFill>
            <a:srgbClr val="13243C"/>
          </a:solidFill>
          <a:ln w="12700">
            <a:solidFill>
              <a:srgbClr val="B8935A"/>
            </a:solidFill>
            <a:prstDash val="solid"/>
          </a:ln>
        </p:spPr>
      </p:sp>
      <p:sp>
        <p:nvSpPr>
          <p:cNvPr id="7" name="Text 5"/>
          <p:cNvSpPr/>
          <p:nvPr/>
        </p:nvSpPr>
        <p:spPr>
          <a:xfrm>
            <a:off x="704088" y="2148840"/>
            <a:ext cx="3520440" cy="822960"/>
          </a:xfrm>
          <a:prstGeom prst="rect">
            <a:avLst/>
          </a:prstGeom>
          <a:noFill/>
          <a:ln/>
        </p:spPr>
        <p:txBody>
          <a:bodyPr wrap="square" lIns="0" tIns="0" rIns="0" bIns="0" rtlCol="0" anchor="ctr"/>
          <a:lstStyle/>
          <a:p>
            <a:pPr algn="ctr" indent="0" marL="0">
              <a:buNone/>
            </a:pPr>
            <a:r>
              <a:rPr lang="en-US" sz="4800" b="1" dirty="0">
                <a:solidFill>
                  <a:srgbClr val="C9A96E"/>
                </a:solidFill>
                <a:latin typeface="Cambria" pitchFamily="34" charset="0"/>
                <a:ea typeface="Cambria" pitchFamily="34" charset="-122"/>
                <a:cs typeface="Cambria" pitchFamily="34" charset="-120"/>
              </a:rPr>
              <a:t>1 chạm</a:t>
            </a:r>
            <a:endParaRPr lang="en-US" sz="4800" dirty="0"/>
          </a:p>
        </p:txBody>
      </p:sp>
      <p:sp>
        <p:nvSpPr>
          <p:cNvPr id="8" name="Text 6"/>
          <p:cNvSpPr/>
          <p:nvPr/>
        </p:nvSpPr>
        <p:spPr>
          <a:xfrm>
            <a:off x="704088" y="2971800"/>
            <a:ext cx="3520440" cy="365760"/>
          </a:xfrm>
          <a:prstGeom prst="rect">
            <a:avLst/>
          </a:prstGeom>
          <a:noFill/>
          <a:ln/>
        </p:spPr>
        <p:txBody>
          <a:bodyPr wrap="square" lIns="0" tIns="0" rIns="0" bIns="0" rtlCol="0" anchor="ctr"/>
          <a:lstStyle/>
          <a:p>
            <a:pPr algn="ctr" indent="0" marL="0">
              <a:buNone/>
            </a:pPr>
            <a:r>
              <a:rPr lang="en-US" sz="1300" dirty="0">
                <a:solidFill>
                  <a:srgbClr val="FFFFFF"/>
                </a:solidFill>
              </a:rPr>
              <a:t>chấm công · báo tiến độ · xin vật tư</a:t>
            </a:r>
            <a:endParaRPr lang="en-US" sz="1300" dirty="0"/>
          </a:p>
        </p:txBody>
      </p:sp>
      <p:sp>
        <p:nvSpPr>
          <p:cNvPr id="9" name="Shape 7"/>
          <p:cNvSpPr/>
          <p:nvPr/>
        </p:nvSpPr>
        <p:spPr>
          <a:xfrm>
            <a:off x="1280160" y="3611880"/>
            <a:ext cx="2331720" cy="0"/>
          </a:xfrm>
          <a:prstGeom prst="line">
            <a:avLst/>
          </a:prstGeom>
          <a:noFill/>
          <a:ln w="12700">
            <a:solidFill>
              <a:srgbClr val="1B3152"/>
            </a:solidFill>
            <a:prstDash val="solid"/>
          </a:ln>
        </p:spPr>
      </p:sp>
      <p:sp>
        <p:nvSpPr>
          <p:cNvPr id="10" name="Text 8"/>
          <p:cNvSpPr/>
          <p:nvPr/>
        </p:nvSpPr>
        <p:spPr>
          <a:xfrm>
            <a:off x="704088" y="3840480"/>
            <a:ext cx="3520440" cy="731520"/>
          </a:xfrm>
          <a:prstGeom prst="rect">
            <a:avLst/>
          </a:prstGeom>
          <a:noFill/>
          <a:ln/>
        </p:spPr>
        <p:txBody>
          <a:bodyPr wrap="square" lIns="0" tIns="0" rIns="0" bIns="0" rtlCol="0" anchor="ctr"/>
          <a:lstStyle/>
          <a:p>
            <a:pPr algn="ctr" indent="0" marL="0">
              <a:buNone/>
            </a:pPr>
            <a:r>
              <a:rPr lang="en-US" sz="1250" i="1" dirty="0">
                <a:solidFill>
                  <a:srgbClr val="AAB8CB"/>
                </a:solidFill>
              </a:rPr>
              <a:t>Ngoài nắng vẫn dùng tốt — có chế độ màn hình Ngoài trời riêng</a:t>
            </a:r>
            <a:endParaRPr lang="en-US" sz="1250" dirty="0"/>
          </a:p>
        </p:txBody>
      </p:sp>
      <p:sp>
        <p:nvSpPr>
          <p:cNvPr id="11" name="Shape 9"/>
          <p:cNvSpPr/>
          <p:nvPr/>
        </p:nvSpPr>
        <p:spPr>
          <a:xfrm>
            <a:off x="4892040" y="1673352"/>
            <a:ext cx="512064" cy="512064"/>
          </a:xfrm>
          <a:prstGeom prst="ellipse">
            <a:avLst/>
          </a:prstGeom>
          <a:solidFill>
            <a:srgbClr val="C9A96E"/>
          </a:solidFill>
          <a:ln/>
        </p:spPr>
      </p:sp>
      <p:pic>
        <p:nvPicPr>
          <p:cNvPr id="12" name="Image 0" descr="preencoded.png">    </p:cNvPr>
          <p:cNvPicPr>
            <a:picLocks noChangeAspect="1"/>
          </p:cNvPicPr>
          <p:nvPr/>
        </p:nvPicPr>
        <p:blipFill>
          <a:blip r:embed="rId1"/>
          <a:stretch>
            <a:fillRect/>
          </a:stretch>
        </p:blipFill>
        <p:spPr>
          <a:xfrm>
            <a:off x="5004694" y="1786006"/>
            <a:ext cx="286756" cy="286756"/>
          </a:xfrm>
          <a:prstGeom prst="rect">
            <a:avLst/>
          </a:prstGeom>
        </p:spPr>
      </p:pic>
      <p:sp>
        <p:nvSpPr>
          <p:cNvPr id="13" name="Text 10"/>
          <p:cNvSpPr/>
          <p:nvPr/>
        </p:nvSpPr>
        <p:spPr>
          <a:xfrm>
            <a:off x="5605272" y="159105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Chấm công qua Telegram — kể cả mất mạng</a:t>
            </a:r>
            <a:endParaRPr lang="en-US" sz="1650" dirty="0"/>
          </a:p>
        </p:txBody>
      </p:sp>
      <p:sp>
        <p:nvSpPr>
          <p:cNvPr id="14" name="Text 11"/>
          <p:cNvSpPr/>
          <p:nvPr/>
        </p:nvSpPr>
        <p:spPr>
          <a:xfrm>
            <a:off x="5605272" y="1901952"/>
            <a:ext cx="6053328" cy="566928"/>
          </a:xfrm>
          <a:prstGeom prst="rect">
            <a:avLst/>
          </a:prstGeom>
          <a:noFill/>
          <a:ln/>
        </p:spPr>
        <p:txBody>
          <a:bodyPr wrap="square" lIns="0" tIns="0" rIns="0" bIns="0" rtlCol="0" anchor="ctr"/>
          <a:lstStyle/>
          <a:p>
            <a:pPr indent="0" marL="0">
              <a:buNone/>
            </a:pPr>
            <a:r>
              <a:rPr lang="en-US" sz="1250" dirty="0">
                <a:solidFill>
                  <a:srgbClr val="AAB8CB"/>
                </a:solidFill>
              </a:rPr>
              <a:t>Check-in 1 chạm tại công trường; offline vẫn lưu, có mạng tự gửi. Công của anh em không bao giờ mất.</a:t>
            </a:r>
            <a:endParaRPr lang="en-US" sz="1250" dirty="0"/>
          </a:p>
        </p:txBody>
      </p:sp>
      <p:sp>
        <p:nvSpPr>
          <p:cNvPr id="15" name="Shape 12"/>
          <p:cNvSpPr/>
          <p:nvPr/>
        </p:nvSpPr>
        <p:spPr>
          <a:xfrm>
            <a:off x="4892040" y="2679192"/>
            <a:ext cx="512064" cy="512064"/>
          </a:xfrm>
          <a:prstGeom prst="ellipse">
            <a:avLst/>
          </a:prstGeom>
          <a:solidFill>
            <a:srgbClr val="C9A96E"/>
          </a:solidFill>
          <a:ln/>
        </p:spPr>
      </p:sp>
      <p:pic>
        <p:nvPicPr>
          <p:cNvPr id="16" name="Image 1" descr="preencoded.png">    </p:cNvPr>
          <p:cNvPicPr>
            <a:picLocks noChangeAspect="1"/>
          </p:cNvPicPr>
          <p:nvPr/>
        </p:nvPicPr>
        <p:blipFill>
          <a:blip r:embed="rId2"/>
          <a:stretch>
            <a:fillRect/>
          </a:stretch>
        </p:blipFill>
        <p:spPr>
          <a:xfrm>
            <a:off x="5004694" y="2791846"/>
            <a:ext cx="286756" cy="286756"/>
          </a:xfrm>
          <a:prstGeom prst="rect">
            <a:avLst/>
          </a:prstGeom>
        </p:spPr>
      </p:pic>
      <p:sp>
        <p:nvSpPr>
          <p:cNvPr id="17" name="Text 13"/>
          <p:cNvSpPr/>
          <p:nvPr/>
        </p:nvSpPr>
        <p:spPr>
          <a:xfrm>
            <a:off x="5605272" y="259689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Vật tư xin — duyệt — giao trong ngày</a:t>
            </a:r>
            <a:endParaRPr lang="en-US" sz="1650" dirty="0"/>
          </a:p>
        </p:txBody>
      </p:sp>
      <p:sp>
        <p:nvSpPr>
          <p:cNvPr id="18" name="Text 14"/>
          <p:cNvSpPr/>
          <p:nvPr/>
        </p:nvSpPr>
        <p:spPr>
          <a:xfrm>
            <a:off x="5605272" y="2907792"/>
            <a:ext cx="6053328" cy="566928"/>
          </a:xfrm>
          <a:prstGeom prst="rect">
            <a:avLst/>
          </a:prstGeom>
          <a:noFill/>
          <a:ln/>
        </p:spPr>
        <p:txBody>
          <a:bodyPr wrap="square" lIns="0" tIns="0" rIns="0" bIns="0" rtlCol="0" anchor="ctr"/>
          <a:lstStyle/>
          <a:p>
            <a:pPr indent="0" marL="0">
              <a:buNone/>
            </a:pPr>
            <a:r>
              <a:rPr lang="en-US" sz="1250" dirty="0">
                <a:solidFill>
                  <a:srgbClr val="AAB8CB"/>
                </a:solidFill>
              </a:rPr>
              <a:t>Xin vật tư trên điện thoại, sếp duyệt từ xa, kho thấy ngay. Hết cảnh chờ giấy tờ.</a:t>
            </a:r>
            <a:endParaRPr lang="en-US" sz="1250" dirty="0"/>
          </a:p>
        </p:txBody>
      </p:sp>
      <p:sp>
        <p:nvSpPr>
          <p:cNvPr id="19" name="Shape 15"/>
          <p:cNvSpPr/>
          <p:nvPr/>
        </p:nvSpPr>
        <p:spPr>
          <a:xfrm>
            <a:off x="4892040" y="3685032"/>
            <a:ext cx="512064" cy="512064"/>
          </a:xfrm>
          <a:prstGeom prst="ellipse">
            <a:avLst/>
          </a:prstGeom>
          <a:solidFill>
            <a:srgbClr val="C9A96E"/>
          </a:solidFill>
          <a:ln/>
        </p:spPr>
      </p:sp>
      <p:pic>
        <p:nvPicPr>
          <p:cNvPr id="20" name="Image 2" descr="preencoded.png">    </p:cNvPr>
          <p:cNvPicPr>
            <a:picLocks noChangeAspect="1"/>
          </p:cNvPicPr>
          <p:nvPr/>
        </p:nvPicPr>
        <p:blipFill>
          <a:blip r:embed="rId3"/>
          <a:stretch>
            <a:fillRect/>
          </a:stretch>
        </p:blipFill>
        <p:spPr>
          <a:xfrm>
            <a:off x="5004694" y="3797686"/>
            <a:ext cx="286756" cy="286756"/>
          </a:xfrm>
          <a:prstGeom prst="rect">
            <a:avLst/>
          </a:prstGeom>
        </p:spPr>
      </p:pic>
      <p:sp>
        <p:nvSpPr>
          <p:cNvPr id="21" name="Text 16"/>
          <p:cNvSpPr/>
          <p:nvPr/>
        </p:nvSpPr>
        <p:spPr>
          <a:xfrm>
            <a:off x="5605272" y="360273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Tiến độ 5 giai đoạn rõ từng việc</a:t>
            </a:r>
            <a:endParaRPr lang="en-US" sz="1650" dirty="0"/>
          </a:p>
        </p:txBody>
      </p:sp>
      <p:sp>
        <p:nvSpPr>
          <p:cNvPr id="22" name="Text 17"/>
          <p:cNvSpPr/>
          <p:nvPr/>
        </p:nvSpPr>
        <p:spPr>
          <a:xfrm>
            <a:off x="5605272" y="3913632"/>
            <a:ext cx="6053328" cy="566928"/>
          </a:xfrm>
          <a:prstGeom prst="rect">
            <a:avLst/>
          </a:prstGeom>
          <a:noFill/>
          <a:ln/>
        </p:spPr>
        <p:txBody>
          <a:bodyPr wrap="square" lIns="0" tIns="0" rIns="0" bIns="0" rtlCol="0" anchor="ctr"/>
          <a:lstStyle/>
          <a:p>
            <a:pPr indent="0" marL="0">
              <a:buNone/>
            </a:pPr>
            <a:r>
              <a:rPr lang="en-US" sz="1250" dirty="0">
                <a:solidFill>
                  <a:srgbClr val="AAB8CB"/>
                </a:solidFill>
              </a:rPr>
              <a:t>Việc của ai, giai đoạn nào, trễ hạn gì — nhìn một màn hình là biết. Bàn giao đúng hẹn, khách nể.</a:t>
            </a:r>
            <a:endParaRPr lang="en-US" sz="1250" dirty="0"/>
          </a:p>
        </p:txBody>
      </p:sp>
      <p:sp>
        <p:nvSpPr>
          <p:cNvPr id="23" name="Shape 18"/>
          <p:cNvSpPr/>
          <p:nvPr/>
        </p:nvSpPr>
        <p:spPr>
          <a:xfrm>
            <a:off x="4892040" y="4690872"/>
            <a:ext cx="512064" cy="512064"/>
          </a:xfrm>
          <a:prstGeom prst="ellipse">
            <a:avLst/>
          </a:prstGeom>
          <a:solidFill>
            <a:srgbClr val="C9A96E"/>
          </a:solidFill>
          <a:ln/>
        </p:spPr>
      </p:sp>
      <p:pic>
        <p:nvPicPr>
          <p:cNvPr id="24" name="Image 3" descr="preencoded.png">    </p:cNvPr>
          <p:cNvPicPr>
            <a:picLocks noChangeAspect="1"/>
          </p:cNvPicPr>
          <p:nvPr/>
        </p:nvPicPr>
        <p:blipFill>
          <a:blip r:embed="rId4"/>
          <a:stretch>
            <a:fillRect/>
          </a:stretch>
        </p:blipFill>
        <p:spPr>
          <a:xfrm>
            <a:off x="5004694" y="4803526"/>
            <a:ext cx="286756" cy="286756"/>
          </a:xfrm>
          <a:prstGeom prst="rect">
            <a:avLst/>
          </a:prstGeom>
        </p:spPr>
      </p:pic>
      <p:sp>
        <p:nvSpPr>
          <p:cNvPr id="25" name="Text 19"/>
          <p:cNvSpPr/>
          <p:nvPr/>
        </p:nvSpPr>
        <p:spPr>
          <a:xfrm>
            <a:off x="5605272" y="460857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Sinh ra cho người đứng công trường</a:t>
            </a:r>
            <a:endParaRPr lang="en-US" sz="1650" dirty="0"/>
          </a:p>
        </p:txBody>
      </p:sp>
      <p:sp>
        <p:nvSpPr>
          <p:cNvPr id="26" name="Text 20"/>
          <p:cNvSpPr/>
          <p:nvPr/>
        </p:nvSpPr>
        <p:spPr>
          <a:xfrm>
            <a:off x="5605272" y="4919472"/>
            <a:ext cx="6053328" cy="566928"/>
          </a:xfrm>
          <a:prstGeom prst="rect">
            <a:avLst/>
          </a:prstGeom>
          <a:noFill/>
          <a:ln/>
        </p:spPr>
        <p:txBody>
          <a:bodyPr wrap="square" lIns="0" tIns="0" rIns="0" bIns="0" rtlCol="0" anchor="ctr"/>
          <a:lstStyle/>
          <a:p>
            <a:pPr indent="0" marL="0">
              <a:buNone/>
            </a:pPr>
            <a:r>
              <a:rPr lang="en-US" sz="1250" dirty="0">
                <a:solidFill>
                  <a:srgbClr val="AAB8CB"/>
                </a:solidFill>
              </a:rPr>
              <a:t>Nút to, thao tác một tay, thanh điều hướng trong tầm ngón cái — không phải "dân văn phòng" mới dùng được.</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DÀNH CHO KẾ TOÁN &amp; HÀNH CHÍNH NHÂN SỰ</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Sổ sách tự khớp — lương thưởng tự tính</a:t>
            </a:r>
            <a:endParaRPr lang="en-US" sz="3300" dirty="0"/>
          </a:p>
        </p:txBody>
      </p:sp>
      <p:sp>
        <p:nvSpPr>
          <p:cNvPr id="6" name="Shape 4"/>
          <p:cNvSpPr/>
          <p:nvPr/>
        </p:nvSpPr>
        <p:spPr>
          <a:xfrm>
            <a:off x="566928" y="1673352"/>
            <a:ext cx="512064" cy="512064"/>
          </a:xfrm>
          <a:prstGeom prst="ellipse">
            <a:avLst/>
          </a:prstGeom>
          <a:solidFill>
            <a:srgbClr val="C9A96E"/>
          </a:solidFill>
          <a:ln/>
        </p:spPr>
      </p:sp>
      <p:pic>
        <p:nvPicPr>
          <p:cNvPr id="7" name="Image 0" descr="preencoded.png">    </p:cNvPr>
          <p:cNvPicPr>
            <a:picLocks noChangeAspect="1"/>
          </p:cNvPicPr>
          <p:nvPr/>
        </p:nvPicPr>
        <p:blipFill>
          <a:blip r:embed="rId1"/>
          <a:stretch>
            <a:fillRect/>
          </a:stretch>
        </p:blipFill>
        <p:spPr>
          <a:xfrm>
            <a:off x="679582" y="1786006"/>
            <a:ext cx="286756" cy="286756"/>
          </a:xfrm>
          <a:prstGeom prst="rect">
            <a:avLst/>
          </a:prstGeom>
        </p:spPr>
      </p:pic>
      <p:sp>
        <p:nvSpPr>
          <p:cNvPr id="8" name="Text 5"/>
          <p:cNvSpPr/>
          <p:nvPr/>
        </p:nvSpPr>
        <p:spPr>
          <a:xfrm>
            <a:off x="1280160" y="159105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Lãi lỗ từng dự án — thời gian thực</a:t>
            </a:r>
            <a:endParaRPr lang="en-US" sz="1650" dirty="0"/>
          </a:p>
        </p:txBody>
      </p:sp>
      <p:sp>
        <p:nvSpPr>
          <p:cNvPr id="9" name="Text 6"/>
          <p:cNvSpPr/>
          <p:nvPr/>
        </p:nvSpPr>
        <p:spPr>
          <a:xfrm>
            <a:off x="1280160" y="1901952"/>
            <a:ext cx="6144768" cy="566928"/>
          </a:xfrm>
          <a:prstGeom prst="rect">
            <a:avLst/>
          </a:prstGeom>
          <a:noFill/>
          <a:ln/>
        </p:spPr>
        <p:txBody>
          <a:bodyPr wrap="square" lIns="0" tIns="0" rIns="0" bIns="0" rtlCol="0" anchor="ctr"/>
          <a:lstStyle/>
          <a:p>
            <a:pPr indent="0" marL="0">
              <a:buNone/>
            </a:pPr>
            <a:r>
              <a:rPr lang="en-US" sz="1250" dirty="0">
                <a:solidFill>
                  <a:srgbClr val="AAB8CB"/>
                </a:solidFill>
              </a:rPr>
              <a:t>Doanh thu, chi phí vật tư, nhân công gom tự động về từng công trình. Dự án nào lãi, dự án nào cần siết — thấy ngay.</a:t>
            </a:r>
            <a:endParaRPr lang="en-US" sz="1250" dirty="0"/>
          </a:p>
        </p:txBody>
      </p:sp>
      <p:sp>
        <p:nvSpPr>
          <p:cNvPr id="10" name="Shape 7"/>
          <p:cNvSpPr/>
          <p:nvPr/>
        </p:nvSpPr>
        <p:spPr>
          <a:xfrm>
            <a:off x="566928" y="2679192"/>
            <a:ext cx="512064" cy="512064"/>
          </a:xfrm>
          <a:prstGeom prst="ellipse">
            <a:avLst/>
          </a:prstGeom>
          <a:solidFill>
            <a:srgbClr val="C9A96E"/>
          </a:solidFill>
          <a:ln/>
        </p:spPr>
      </p:sp>
      <p:pic>
        <p:nvPicPr>
          <p:cNvPr id="11" name="Image 1" descr="preencoded.png">    </p:cNvPr>
          <p:cNvPicPr>
            <a:picLocks noChangeAspect="1"/>
          </p:cNvPicPr>
          <p:nvPr/>
        </p:nvPicPr>
        <p:blipFill>
          <a:blip r:embed="rId2"/>
          <a:stretch>
            <a:fillRect/>
          </a:stretch>
        </p:blipFill>
        <p:spPr>
          <a:xfrm>
            <a:off x="679582" y="2791846"/>
            <a:ext cx="286756" cy="286756"/>
          </a:xfrm>
          <a:prstGeom prst="rect">
            <a:avLst/>
          </a:prstGeom>
        </p:spPr>
      </p:pic>
      <p:sp>
        <p:nvSpPr>
          <p:cNvPr id="12" name="Text 8"/>
          <p:cNvSpPr/>
          <p:nvPr/>
        </p:nvSpPr>
        <p:spPr>
          <a:xfrm>
            <a:off x="1280160" y="259689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Phải thu theo hợp đồng</a:t>
            </a:r>
            <a:endParaRPr lang="en-US" sz="1650" dirty="0"/>
          </a:p>
        </p:txBody>
      </p:sp>
      <p:sp>
        <p:nvSpPr>
          <p:cNvPr id="13" name="Text 9"/>
          <p:cNvSpPr/>
          <p:nvPr/>
        </p:nvSpPr>
        <p:spPr>
          <a:xfrm>
            <a:off x="1280160" y="2907792"/>
            <a:ext cx="6144768" cy="566928"/>
          </a:xfrm>
          <a:prstGeom prst="rect">
            <a:avLst/>
          </a:prstGeom>
          <a:noFill/>
          <a:ln/>
        </p:spPr>
        <p:txBody>
          <a:bodyPr wrap="square" lIns="0" tIns="0" rIns="0" bIns="0" rtlCol="0" anchor="ctr"/>
          <a:lstStyle/>
          <a:p>
            <a:pPr indent="0" marL="0">
              <a:buNone/>
            </a:pPr>
            <a:r>
              <a:rPr lang="en-US" sz="1250" dirty="0">
                <a:solidFill>
                  <a:srgbClr val="AAB8CB"/>
                </a:solidFill>
              </a:rPr>
              <a:t>Đợt thanh toán nào đến hạn, còn bao nhiêu chưa thu — hệ thống nhắc kế toán từng khoản.</a:t>
            </a:r>
            <a:endParaRPr lang="en-US" sz="1250" dirty="0"/>
          </a:p>
        </p:txBody>
      </p:sp>
      <p:sp>
        <p:nvSpPr>
          <p:cNvPr id="14" name="Shape 10"/>
          <p:cNvSpPr/>
          <p:nvPr/>
        </p:nvSpPr>
        <p:spPr>
          <a:xfrm>
            <a:off x="566928" y="3685032"/>
            <a:ext cx="512064" cy="512064"/>
          </a:xfrm>
          <a:prstGeom prst="ellipse">
            <a:avLst/>
          </a:prstGeom>
          <a:solidFill>
            <a:srgbClr val="C9A96E"/>
          </a:solidFill>
          <a:ln/>
        </p:spPr>
      </p:sp>
      <p:pic>
        <p:nvPicPr>
          <p:cNvPr id="15" name="Image 2" descr="preencoded.png">    </p:cNvPr>
          <p:cNvPicPr>
            <a:picLocks noChangeAspect="1"/>
          </p:cNvPicPr>
          <p:nvPr/>
        </p:nvPicPr>
        <p:blipFill>
          <a:blip r:embed="rId3"/>
          <a:stretch>
            <a:fillRect/>
          </a:stretch>
        </p:blipFill>
        <p:spPr>
          <a:xfrm>
            <a:off x="679582" y="3797686"/>
            <a:ext cx="286756" cy="286756"/>
          </a:xfrm>
          <a:prstGeom prst="rect">
            <a:avLst/>
          </a:prstGeom>
        </p:spPr>
      </p:pic>
      <p:sp>
        <p:nvSpPr>
          <p:cNvPr id="16" name="Text 11"/>
          <p:cNvSpPr/>
          <p:nvPr/>
        </p:nvSpPr>
        <p:spPr>
          <a:xfrm>
            <a:off x="1280160" y="360273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Bảng lương tự động chuẩn luật 2026</a:t>
            </a:r>
            <a:endParaRPr lang="en-US" sz="1650" dirty="0"/>
          </a:p>
        </p:txBody>
      </p:sp>
      <p:sp>
        <p:nvSpPr>
          <p:cNvPr id="17" name="Text 12"/>
          <p:cNvSpPr/>
          <p:nvPr/>
        </p:nvSpPr>
        <p:spPr>
          <a:xfrm>
            <a:off x="1280160" y="3913632"/>
            <a:ext cx="6144768" cy="566928"/>
          </a:xfrm>
          <a:prstGeom prst="rect">
            <a:avLst/>
          </a:prstGeom>
          <a:noFill/>
          <a:ln/>
        </p:spPr>
        <p:txBody>
          <a:bodyPr wrap="square" lIns="0" tIns="0" rIns="0" bIns="0" rtlCol="0" anchor="ctr"/>
          <a:lstStyle/>
          <a:p>
            <a:pPr indent="0" marL="0">
              <a:buNone/>
            </a:pPr>
            <a:r>
              <a:rPr lang="en-US" sz="1250" dirty="0">
                <a:solidFill>
                  <a:srgbClr val="AAB8CB"/>
                </a:solidFill>
              </a:rPr>
              <a:t>Chấm công đổ thẳng vào bảng công; lương, BHXH, thuế TNCN tính tự động; phiếu lương gửi riêng từng người qua Telegram.</a:t>
            </a:r>
            <a:endParaRPr lang="en-US" sz="1250" dirty="0"/>
          </a:p>
        </p:txBody>
      </p:sp>
      <p:sp>
        <p:nvSpPr>
          <p:cNvPr id="18" name="Shape 13"/>
          <p:cNvSpPr/>
          <p:nvPr/>
        </p:nvSpPr>
        <p:spPr>
          <a:xfrm>
            <a:off x="566928" y="4690872"/>
            <a:ext cx="512064" cy="512064"/>
          </a:xfrm>
          <a:prstGeom prst="ellipse">
            <a:avLst/>
          </a:prstGeom>
          <a:solidFill>
            <a:srgbClr val="C9A96E"/>
          </a:solidFill>
          <a:ln/>
        </p:spPr>
      </p:sp>
      <p:pic>
        <p:nvPicPr>
          <p:cNvPr id="19" name="Image 3" descr="preencoded.png">    </p:cNvPr>
          <p:cNvPicPr>
            <a:picLocks noChangeAspect="1"/>
          </p:cNvPicPr>
          <p:nvPr/>
        </p:nvPicPr>
        <p:blipFill>
          <a:blip r:embed="rId4"/>
          <a:stretch>
            <a:fillRect/>
          </a:stretch>
        </p:blipFill>
        <p:spPr>
          <a:xfrm>
            <a:off x="679582" y="4803526"/>
            <a:ext cx="286756" cy="286756"/>
          </a:xfrm>
          <a:prstGeom prst="rect">
            <a:avLst/>
          </a:prstGeom>
        </p:spPr>
      </p:pic>
      <p:sp>
        <p:nvSpPr>
          <p:cNvPr id="20" name="Text 14"/>
          <p:cNvSpPr/>
          <p:nvPr/>
        </p:nvSpPr>
        <p:spPr>
          <a:xfrm>
            <a:off x="1280160" y="460857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Chốt sổ có khóa kỳ — audit đầy đủ</a:t>
            </a:r>
            <a:endParaRPr lang="en-US" sz="1650" dirty="0"/>
          </a:p>
        </p:txBody>
      </p:sp>
      <p:sp>
        <p:nvSpPr>
          <p:cNvPr id="21" name="Text 15"/>
          <p:cNvSpPr/>
          <p:nvPr/>
        </p:nvSpPr>
        <p:spPr>
          <a:xfrm>
            <a:off x="1280160" y="4919472"/>
            <a:ext cx="6144768" cy="566928"/>
          </a:xfrm>
          <a:prstGeom prst="rect">
            <a:avLst/>
          </a:prstGeom>
          <a:noFill/>
          <a:ln/>
        </p:spPr>
        <p:txBody>
          <a:bodyPr wrap="square" lIns="0" tIns="0" rIns="0" bIns="0" rtlCol="0" anchor="ctr"/>
          <a:lstStyle/>
          <a:p>
            <a:pPr indent="0" marL="0">
              <a:buNone/>
            </a:pPr>
            <a:r>
              <a:rPr lang="en-US" sz="1250" dirty="0">
                <a:solidFill>
                  <a:srgbClr val="AAB8CB"/>
                </a:solidFill>
              </a:rPr>
              <a:t>Kỳ đã chốt không ai sửa được; mọi thay đổi nhạy cảm đều ghi vết. Minh bạch bảo vệ tất cả chúng ta.</a:t>
            </a:r>
            <a:endParaRPr lang="en-US" sz="1250" dirty="0"/>
          </a:p>
        </p:txBody>
      </p:sp>
      <p:sp>
        <p:nvSpPr>
          <p:cNvPr id="22" name="Shape 16"/>
          <p:cNvSpPr/>
          <p:nvPr/>
        </p:nvSpPr>
        <p:spPr>
          <a:xfrm>
            <a:off x="7863840" y="1645920"/>
            <a:ext cx="3794760" cy="4114800"/>
          </a:xfrm>
          <a:prstGeom prst="roundRect">
            <a:avLst>
              <a:gd name="adj" fmla="val 2410"/>
            </a:avLst>
          </a:prstGeom>
          <a:solidFill>
            <a:srgbClr val="13243C"/>
          </a:solidFill>
          <a:ln w="12700">
            <a:solidFill>
              <a:srgbClr val="B8935A"/>
            </a:solidFill>
            <a:prstDash val="solid"/>
          </a:ln>
        </p:spPr>
      </p:sp>
      <p:sp>
        <p:nvSpPr>
          <p:cNvPr id="23" name="Text 17"/>
          <p:cNvSpPr/>
          <p:nvPr/>
        </p:nvSpPr>
        <p:spPr>
          <a:xfrm>
            <a:off x="8001000" y="2103120"/>
            <a:ext cx="3520440" cy="822960"/>
          </a:xfrm>
          <a:prstGeom prst="rect">
            <a:avLst/>
          </a:prstGeom>
          <a:noFill/>
          <a:ln/>
        </p:spPr>
        <p:txBody>
          <a:bodyPr wrap="square" lIns="0" tIns="0" rIns="0" bIns="0" rtlCol="0" anchor="ctr"/>
          <a:lstStyle/>
          <a:p>
            <a:pPr algn="ctr" indent="0" marL="0">
              <a:buNone/>
            </a:pPr>
            <a:r>
              <a:rPr lang="en-US" sz="5400" b="1" dirty="0">
                <a:solidFill>
                  <a:srgbClr val="C9A96E"/>
                </a:solidFill>
                <a:latin typeface="Cambria" pitchFamily="34" charset="0"/>
                <a:ea typeface="Cambria" pitchFamily="34" charset="-122"/>
                <a:cs typeface="Cambria" pitchFamily="34" charset="-120"/>
              </a:rPr>
              <a:t>0</a:t>
            </a:r>
            <a:endParaRPr lang="en-US" sz="5400" dirty="0"/>
          </a:p>
        </p:txBody>
      </p:sp>
      <p:sp>
        <p:nvSpPr>
          <p:cNvPr id="24" name="Text 18"/>
          <p:cNvSpPr/>
          <p:nvPr/>
        </p:nvSpPr>
        <p:spPr>
          <a:xfrm>
            <a:off x="8001000" y="2971800"/>
            <a:ext cx="3520440" cy="548640"/>
          </a:xfrm>
          <a:prstGeom prst="rect">
            <a:avLst/>
          </a:prstGeom>
          <a:noFill/>
          <a:ln/>
        </p:spPr>
        <p:txBody>
          <a:bodyPr wrap="square" lIns="0" tIns="0" rIns="0" bIns="0" rtlCol="0" anchor="ctr"/>
          <a:lstStyle/>
          <a:p>
            <a:pPr algn="ctr" indent="0" marL="0">
              <a:buNone/>
            </a:pPr>
            <a:r>
              <a:rPr lang="en-US" sz="1350" dirty="0">
                <a:solidFill>
                  <a:srgbClr val="FFFFFF"/>
                </a:solidFill>
              </a:rPr>
              <a:t>lần gõ lại số liệu giữa các file Excel</a:t>
            </a:r>
            <a:endParaRPr lang="en-US" sz="1350" dirty="0"/>
          </a:p>
        </p:txBody>
      </p:sp>
      <p:sp>
        <p:nvSpPr>
          <p:cNvPr id="25" name="Shape 19"/>
          <p:cNvSpPr/>
          <p:nvPr/>
        </p:nvSpPr>
        <p:spPr>
          <a:xfrm>
            <a:off x="8595360" y="3703320"/>
            <a:ext cx="2331720" cy="0"/>
          </a:xfrm>
          <a:prstGeom prst="line">
            <a:avLst/>
          </a:prstGeom>
          <a:noFill/>
          <a:ln w="12700">
            <a:solidFill>
              <a:srgbClr val="1B3152"/>
            </a:solidFill>
            <a:prstDash val="solid"/>
          </a:ln>
        </p:spPr>
      </p:sp>
      <p:sp>
        <p:nvSpPr>
          <p:cNvPr id="26" name="Text 20"/>
          <p:cNvSpPr/>
          <p:nvPr/>
        </p:nvSpPr>
        <p:spPr>
          <a:xfrm>
            <a:off x="8001000" y="3931920"/>
            <a:ext cx="3520440" cy="640080"/>
          </a:xfrm>
          <a:prstGeom prst="rect">
            <a:avLst/>
          </a:prstGeom>
          <a:noFill/>
          <a:ln/>
        </p:spPr>
        <p:txBody>
          <a:bodyPr wrap="square" lIns="0" tIns="0" rIns="0" bIns="0" rtlCol="0" anchor="ctr"/>
          <a:lstStyle/>
          <a:p>
            <a:pPr algn="ctr" indent="0" marL="0">
              <a:buNone/>
            </a:pPr>
            <a:r>
              <a:rPr lang="en-US" sz="1250" i="1" dirty="0">
                <a:solidFill>
                  <a:srgbClr val="C9A96E"/>
                </a:solidFill>
              </a:rPr>
              <a:t>Nhập một lần — chảy tới mọi báo cáo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DÀNH CHO BAN LÃNH ĐẠO</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Toàn cảnh công ty trong lòng bàn tay</a:t>
            </a:r>
            <a:endParaRPr lang="en-US" sz="3300" dirty="0"/>
          </a:p>
        </p:txBody>
      </p:sp>
      <p:sp>
        <p:nvSpPr>
          <p:cNvPr id="6" name="Shape 4"/>
          <p:cNvSpPr/>
          <p:nvPr/>
        </p:nvSpPr>
        <p:spPr>
          <a:xfrm>
            <a:off x="566928" y="1645920"/>
            <a:ext cx="3794760" cy="4114800"/>
          </a:xfrm>
          <a:prstGeom prst="roundRect">
            <a:avLst>
              <a:gd name="adj" fmla="val 2410"/>
            </a:avLst>
          </a:prstGeom>
          <a:solidFill>
            <a:srgbClr val="13243C"/>
          </a:solidFill>
          <a:ln w="12700">
            <a:solidFill>
              <a:srgbClr val="B8935A"/>
            </a:solidFill>
            <a:prstDash val="solid"/>
          </a:ln>
        </p:spPr>
      </p:sp>
      <p:sp>
        <p:nvSpPr>
          <p:cNvPr id="7" name="Text 5"/>
          <p:cNvSpPr/>
          <p:nvPr/>
        </p:nvSpPr>
        <p:spPr>
          <a:xfrm>
            <a:off x="704088" y="2148840"/>
            <a:ext cx="3520440" cy="822960"/>
          </a:xfrm>
          <a:prstGeom prst="rect">
            <a:avLst/>
          </a:prstGeom>
          <a:noFill/>
          <a:ln/>
        </p:spPr>
        <p:txBody>
          <a:bodyPr wrap="square" lIns="0" tIns="0" rIns="0" bIns="0" rtlCol="0" anchor="ctr"/>
          <a:lstStyle/>
          <a:p>
            <a:pPr algn="ctr" indent="0" marL="0">
              <a:buNone/>
            </a:pPr>
            <a:r>
              <a:rPr lang="en-US" sz="4800" b="1" dirty="0">
                <a:solidFill>
                  <a:srgbClr val="C9A96E"/>
                </a:solidFill>
                <a:latin typeface="Cambria" pitchFamily="34" charset="0"/>
                <a:ea typeface="Cambria" pitchFamily="34" charset="-122"/>
                <a:cs typeface="Cambria" pitchFamily="34" charset="-120"/>
              </a:rPr>
              <a:t>8:00</a:t>
            </a:r>
            <a:endParaRPr lang="en-US" sz="4800" dirty="0"/>
          </a:p>
        </p:txBody>
      </p:sp>
      <p:sp>
        <p:nvSpPr>
          <p:cNvPr id="8" name="Text 6"/>
          <p:cNvSpPr/>
          <p:nvPr/>
        </p:nvSpPr>
        <p:spPr>
          <a:xfrm>
            <a:off x="704088" y="2971800"/>
            <a:ext cx="3520440" cy="548640"/>
          </a:xfrm>
          <a:prstGeom prst="rect">
            <a:avLst/>
          </a:prstGeom>
          <a:noFill/>
          <a:ln/>
        </p:spPr>
        <p:txBody>
          <a:bodyPr wrap="square" lIns="0" tIns="0" rIns="0" bIns="0" rtlCol="0" anchor="ctr"/>
          <a:lstStyle/>
          <a:p>
            <a:pPr algn="ctr" indent="0" marL="0">
              <a:buNone/>
            </a:pPr>
            <a:r>
              <a:rPr lang="en-US" sz="1300" dirty="0">
                <a:solidFill>
                  <a:srgbClr val="FFFFFF"/>
                </a:solidFill>
              </a:rPr>
              <a:t>báo cáo tự động mỗi sáng qua Telegram</a:t>
            </a:r>
            <a:endParaRPr lang="en-US" sz="1300" dirty="0"/>
          </a:p>
        </p:txBody>
      </p:sp>
      <p:sp>
        <p:nvSpPr>
          <p:cNvPr id="9" name="Shape 7"/>
          <p:cNvSpPr/>
          <p:nvPr/>
        </p:nvSpPr>
        <p:spPr>
          <a:xfrm>
            <a:off x="1280160" y="3657600"/>
            <a:ext cx="2331720" cy="0"/>
          </a:xfrm>
          <a:prstGeom prst="line">
            <a:avLst/>
          </a:prstGeom>
          <a:noFill/>
          <a:ln w="12700">
            <a:solidFill>
              <a:srgbClr val="1B3152"/>
            </a:solidFill>
            <a:prstDash val="solid"/>
          </a:ln>
        </p:spPr>
      </p:sp>
      <p:sp>
        <p:nvSpPr>
          <p:cNvPr id="10" name="Text 8"/>
          <p:cNvSpPr/>
          <p:nvPr/>
        </p:nvSpPr>
        <p:spPr>
          <a:xfrm>
            <a:off x="704088" y="3886200"/>
            <a:ext cx="3520440" cy="640080"/>
          </a:xfrm>
          <a:prstGeom prst="rect">
            <a:avLst/>
          </a:prstGeom>
          <a:noFill/>
          <a:ln/>
        </p:spPr>
        <p:txBody>
          <a:bodyPr wrap="square" lIns="0" tIns="0" rIns="0" bIns="0" rtlCol="0" anchor="ctr"/>
          <a:lstStyle/>
          <a:p>
            <a:pPr algn="ctr" indent="0" marL="0">
              <a:buNone/>
            </a:pPr>
            <a:r>
              <a:rPr lang="en-US" sz="1250" i="1" dirty="0">
                <a:solidFill>
                  <a:srgbClr val="AAB8CB"/>
                </a:solidFill>
              </a:rPr>
              <a:t>Ngày · tuần · tháng — chưa kịp hỏi, số đã tới</a:t>
            </a:r>
            <a:endParaRPr lang="en-US" sz="1250" dirty="0"/>
          </a:p>
        </p:txBody>
      </p:sp>
      <p:sp>
        <p:nvSpPr>
          <p:cNvPr id="11" name="Shape 9"/>
          <p:cNvSpPr/>
          <p:nvPr/>
        </p:nvSpPr>
        <p:spPr>
          <a:xfrm>
            <a:off x="4892040" y="1673352"/>
            <a:ext cx="512064" cy="512064"/>
          </a:xfrm>
          <a:prstGeom prst="ellipse">
            <a:avLst/>
          </a:prstGeom>
          <a:solidFill>
            <a:srgbClr val="C9A96E"/>
          </a:solidFill>
          <a:ln/>
        </p:spPr>
      </p:sp>
      <p:pic>
        <p:nvPicPr>
          <p:cNvPr id="12" name="Image 0" descr="preencoded.png">    </p:cNvPr>
          <p:cNvPicPr>
            <a:picLocks noChangeAspect="1"/>
          </p:cNvPicPr>
          <p:nvPr/>
        </p:nvPicPr>
        <p:blipFill>
          <a:blip r:embed="rId1"/>
          <a:stretch>
            <a:fillRect/>
          </a:stretch>
        </p:blipFill>
        <p:spPr>
          <a:xfrm>
            <a:off x="5004694" y="1786006"/>
            <a:ext cx="286756" cy="286756"/>
          </a:xfrm>
          <a:prstGeom prst="rect">
            <a:avLst/>
          </a:prstGeom>
        </p:spPr>
      </p:pic>
      <p:sp>
        <p:nvSpPr>
          <p:cNvPr id="13" name="Text 10"/>
          <p:cNvSpPr/>
          <p:nvPr/>
        </p:nvSpPr>
        <p:spPr>
          <a:xfrm>
            <a:off x="5605272" y="159105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Dashboard thời gian thực</a:t>
            </a:r>
            <a:endParaRPr lang="en-US" sz="1650" dirty="0"/>
          </a:p>
        </p:txBody>
      </p:sp>
      <p:sp>
        <p:nvSpPr>
          <p:cNvPr id="14" name="Text 11"/>
          <p:cNvSpPr/>
          <p:nvPr/>
        </p:nvSpPr>
        <p:spPr>
          <a:xfrm>
            <a:off x="5605272" y="1901952"/>
            <a:ext cx="6053328" cy="566928"/>
          </a:xfrm>
          <a:prstGeom prst="rect">
            <a:avLst/>
          </a:prstGeom>
          <a:noFill/>
          <a:ln/>
        </p:spPr>
        <p:txBody>
          <a:bodyPr wrap="square" lIns="0" tIns="0" rIns="0" bIns="0" rtlCol="0" anchor="ctr"/>
          <a:lstStyle/>
          <a:p>
            <a:pPr indent="0" marL="0">
              <a:buNone/>
            </a:pPr>
            <a:r>
              <a:rPr lang="en-US" sz="1250" dirty="0">
                <a:solidFill>
                  <a:srgbClr val="AAB8CB"/>
                </a:solidFill>
              </a:rPr>
              <a:t>Pipeline bán hàng, dự án đang chạy, dòng tiền, hiệu suất từng đội — số thật, cập nhật liên tục.</a:t>
            </a:r>
            <a:endParaRPr lang="en-US" sz="1250" dirty="0"/>
          </a:p>
        </p:txBody>
      </p:sp>
      <p:sp>
        <p:nvSpPr>
          <p:cNvPr id="15" name="Shape 12"/>
          <p:cNvSpPr/>
          <p:nvPr/>
        </p:nvSpPr>
        <p:spPr>
          <a:xfrm>
            <a:off x="4892040" y="2679192"/>
            <a:ext cx="512064" cy="512064"/>
          </a:xfrm>
          <a:prstGeom prst="ellipse">
            <a:avLst/>
          </a:prstGeom>
          <a:solidFill>
            <a:srgbClr val="C9A96E"/>
          </a:solidFill>
          <a:ln/>
        </p:spPr>
      </p:sp>
      <p:pic>
        <p:nvPicPr>
          <p:cNvPr id="16" name="Image 1" descr="preencoded.png">    </p:cNvPr>
          <p:cNvPicPr>
            <a:picLocks noChangeAspect="1"/>
          </p:cNvPicPr>
          <p:nvPr/>
        </p:nvPicPr>
        <p:blipFill>
          <a:blip r:embed="rId2"/>
          <a:stretch>
            <a:fillRect/>
          </a:stretch>
        </p:blipFill>
        <p:spPr>
          <a:xfrm>
            <a:off x="5004694" y="2791846"/>
            <a:ext cx="286756" cy="286756"/>
          </a:xfrm>
          <a:prstGeom prst="rect">
            <a:avLst/>
          </a:prstGeom>
        </p:spPr>
      </p:pic>
      <p:sp>
        <p:nvSpPr>
          <p:cNvPr id="17" name="Text 13"/>
          <p:cNvSpPr/>
          <p:nvPr/>
        </p:nvSpPr>
        <p:spPr>
          <a:xfrm>
            <a:off x="5605272" y="259689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Ngân sách vs thực chi từng dự án</a:t>
            </a:r>
            <a:endParaRPr lang="en-US" sz="1650" dirty="0"/>
          </a:p>
        </p:txBody>
      </p:sp>
      <p:sp>
        <p:nvSpPr>
          <p:cNvPr id="18" name="Text 14"/>
          <p:cNvSpPr/>
          <p:nvPr/>
        </p:nvSpPr>
        <p:spPr>
          <a:xfrm>
            <a:off x="5605272" y="2907792"/>
            <a:ext cx="6053328" cy="566928"/>
          </a:xfrm>
          <a:prstGeom prst="rect">
            <a:avLst/>
          </a:prstGeom>
          <a:noFill/>
          <a:ln/>
        </p:spPr>
        <p:txBody>
          <a:bodyPr wrap="square" lIns="0" tIns="0" rIns="0" bIns="0" rtlCol="0" anchor="ctr"/>
          <a:lstStyle/>
          <a:p>
            <a:pPr indent="0" marL="0">
              <a:buNone/>
            </a:pPr>
            <a:r>
              <a:rPr lang="en-US" sz="1250" dirty="0">
                <a:solidFill>
                  <a:srgbClr val="AAB8CB"/>
                </a:solidFill>
              </a:rPr>
              <a:t>Dự án chi tới 80% ngân sách là hệ thống cảnh báo — phát hiện dự án "ăn" lợi nhuận trước khi quá muộn.</a:t>
            </a:r>
            <a:endParaRPr lang="en-US" sz="1250" dirty="0"/>
          </a:p>
        </p:txBody>
      </p:sp>
      <p:sp>
        <p:nvSpPr>
          <p:cNvPr id="19" name="Shape 15"/>
          <p:cNvSpPr/>
          <p:nvPr/>
        </p:nvSpPr>
        <p:spPr>
          <a:xfrm>
            <a:off x="4892040" y="3685032"/>
            <a:ext cx="512064" cy="512064"/>
          </a:xfrm>
          <a:prstGeom prst="ellipse">
            <a:avLst/>
          </a:prstGeom>
          <a:solidFill>
            <a:srgbClr val="C9A96E"/>
          </a:solidFill>
          <a:ln/>
        </p:spPr>
      </p:sp>
      <p:pic>
        <p:nvPicPr>
          <p:cNvPr id="20" name="Image 2" descr="preencoded.png">    </p:cNvPr>
          <p:cNvPicPr>
            <a:picLocks noChangeAspect="1"/>
          </p:cNvPicPr>
          <p:nvPr/>
        </p:nvPicPr>
        <p:blipFill>
          <a:blip r:embed="rId3"/>
          <a:stretch>
            <a:fillRect/>
          </a:stretch>
        </p:blipFill>
        <p:spPr>
          <a:xfrm>
            <a:off x="5004694" y="3797686"/>
            <a:ext cx="286756" cy="286756"/>
          </a:xfrm>
          <a:prstGeom prst="rect">
            <a:avLst/>
          </a:prstGeom>
        </p:spPr>
      </p:pic>
      <p:sp>
        <p:nvSpPr>
          <p:cNvPr id="21" name="Text 16"/>
          <p:cNvSpPr/>
          <p:nvPr/>
        </p:nvSpPr>
        <p:spPr>
          <a:xfrm>
            <a:off x="5605272" y="360273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Cảnh báo chủ động</a:t>
            </a:r>
            <a:endParaRPr lang="en-US" sz="1650" dirty="0"/>
          </a:p>
        </p:txBody>
      </p:sp>
      <p:sp>
        <p:nvSpPr>
          <p:cNvPr id="22" name="Text 17"/>
          <p:cNvSpPr/>
          <p:nvPr/>
        </p:nvSpPr>
        <p:spPr>
          <a:xfrm>
            <a:off x="5605272" y="3913632"/>
            <a:ext cx="6053328" cy="566928"/>
          </a:xfrm>
          <a:prstGeom prst="rect">
            <a:avLst/>
          </a:prstGeom>
          <a:noFill/>
          <a:ln/>
        </p:spPr>
        <p:txBody>
          <a:bodyPr wrap="square" lIns="0" tIns="0" rIns="0" bIns="0" rtlCol="0" anchor="ctr"/>
          <a:lstStyle/>
          <a:p>
            <a:pPr indent="0" marL="0">
              <a:buNone/>
            </a:pPr>
            <a:r>
              <a:rPr lang="en-US" sz="1250" dirty="0">
                <a:solidFill>
                  <a:srgbClr val="AAB8CB"/>
                </a:solidFill>
              </a:rPr>
              <a:t>Hệ thống sập, khách quá hạn chăm, thanh toán đến hạn, sắp hết bảo hành — máy tự báo, người tập trung quyết định.</a:t>
            </a:r>
            <a:endParaRPr lang="en-US" sz="1250" dirty="0"/>
          </a:p>
        </p:txBody>
      </p:sp>
      <p:sp>
        <p:nvSpPr>
          <p:cNvPr id="23" name="Shape 18"/>
          <p:cNvSpPr/>
          <p:nvPr/>
        </p:nvSpPr>
        <p:spPr>
          <a:xfrm>
            <a:off x="4892040" y="4690872"/>
            <a:ext cx="512064" cy="512064"/>
          </a:xfrm>
          <a:prstGeom prst="ellipse">
            <a:avLst/>
          </a:prstGeom>
          <a:solidFill>
            <a:srgbClr val="C9A96E"/>
          </a:solidFill>
          <a:ln/>
        </p:spPr>
      </p:sp>
      <p:pic>
        <p:nvPicPr>
          <p:cNvPr id="24" name="Image 3" descr="preencoded.png">    </p:cNvPr>
          <p:cNvPicPr>
            <a:picLocks noChangeAspect="1"/>
          </p:cNvPicPr>
          <p:nvPr/>
        </p:nvPicPr>
        <p:blipFill>
          <a:blip r:embed="rId4"/>
          <a:stretch>
            <a:fillRect/>
          </a:stretch>
        </p:blipFill>
        <p:spPr>
          <a:xfrm>
            <a:off x="5004694" y="4803526"/>
            <a:ext cx="286756" cy="286756"/>
          </a:xfrm>
          <a:prstGeom prst="rect">
            <a:avLst/>
          </a:prstGeom>
        </p:spPr>
      </p:pic>
      <p:sp>
        <p:nvSpPr>
          <p:cNvPr id="25" name="Text 19"/>
          <p:cNvSpPr/>
          <p:nvPr/>
        </p:nvSpPr>
        <p:spPr>
          <a:xfrm>
            <a:off x="5605272" y="4608576"/>
            <a:ext cx="6053328" cy="329184"/>
          </a:xfrm>
          <a:prstGeom prst="rect">
            <a:avLst/>
          </a:prstGeom>
          <a:noFill/>
          <a:ln/>
        </p:spPr>
        <p:txBody>
          <a:bodyPr wrap="square" lIns="0" tIns="0" rIns="0" bIns="0" rtlCol="0" anchor="ctr"/>
          <a:lstStyle/>
          <a:p>
            <a:pPr indent="0" marL="0">
              <a:buNone/>
            </a:pPr>
            <a:r>
              <a:rPr lang="en-US" sz="1650" b="1" dirty="0">
                <a:solidFill>
                  <a:srgbClr val="FFFFFF"/>
                </a:solidFill>
              </a:rPr>
              <a:t>Quyết định trên cùng một số liệu</a:t>
            </a:r>
            <a:endParaRPr lang="en-US" sz="1650" dirty="0"/>
          </a:p>
        </p:txBody>
      </p:sp>
      <p:sp>
        <p:nvSpPr>
          <p:cNvPr id="26" name="Text 20"/>
          <p:cNvSpPr/>
          <p:nvPr/>
        </p:nvSpPr>
        <p:spPr>
          <a:xfrm>
            <a:off x="5605272" y="4919472"/>
            <a:ext cx="6053328" cy="566928"/>
          </a:xfrm>
          <a:prstGeom prst="rect">
            <a:avLst/>
          </a:prstGeom>
          <a:noFill/>
          <a:ln/>
        </p:spPr>
        <p:txBody>
          <a:bodyPr wrap="square" lIns="0" tIns="0" rIns="0" bIns="0" rtlCol="0" anchor="ctr"/>
          <a:lstStyle/>
          <a:p>
            <a:pPr indent="0" marL="0">
              <a:buNone/>
            </a:pPr>
            <a:r>
              <a:rPr lang="en-US" sz="1250" dirty="0">
                <a:solidFill>
                  <a:srgbClr val="AAB8CB"/>
                </a:solidFill>
              </a:rPr>
              <a:t>BOD và các phòng nhìn chung một nguồn số thật — họp nhanh hơn, quyết chính xác hơn.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TRÍ TUỆ NHÂN TẠO &amp; TỰ ĐỘNG HÓA</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Trong lúc chúng ta ngủ — hệ thống vẫn làm việc</a:t>
            </a:r>
            <a:endParaRPr lang="en-US" sz="3300" dirty="0"/>
          </a:p>
        </p:txBody>
      </p:sp>
      <p:sp>
        <p:nvSpPr>
          <p:cNvPr id="6" name="Shape 4"/>
          <p:cNvSpPr/>
          <p:nvPr/>
        </p:nvSpPr>
        <p:spPr>
          <a:xfrm>
            <a:off x="566928" y="1691640"/>
            <a:ext cx="5532120" cy="1920240"/>
          </a:xfrm>
          <a:prstGeom prst="roundRect">
            <a:avLst>
              <a:gd name="adj" fmla="val 4286"/>
            </a:avLst>
          </a:prstGeom>
          <a:solidFill>
            <a:srgbClr val="13243C"/>
          </a:solidFill>
          <a:ln w="12700">
            <a:solidFill>
              <a:srgbClr val="1B3152"/>
            </a:solidFill>
            <a:prstDash val="solid"/>
          </a:ln>
        </p:spPr>
      </p:sp>
      <p:sp>
        <p:nvSpPr>
          <p:cNvPr id="7" name="Shape 5"/>
          <p:cNvSpPr/>
          <p:nvPr/>
        </p:nvSpPr>
        <p:spPr>
          <a:xfrm>
            <a:off x="795528" y="1920240"/>
            <a:ext cx="548640" cy="548640"/>
          </a:xfrm>
          <a:prstGeom prst="ellipse">
            <a:avLst/>
          </a:prstGeom>
          <a:solidFill>
            <a:srgbClr val="C9A96E"/>
          </a:solidFill>
          <a:ln/>
        </p:spPr>
      </p:sp>
      <p:pic>
        <p:nvPicPr>
          <p:cNvPr id="8" name="Image 0" descr="preencoded.png">    </p:cNvPr>
          <p:cNvPicPr>
            <a:picLocks noChangeAspect="1"/>
          </p:cNvPicPr>
          <p:nvPr/>
        </p:nvPicPr>
        <p:blipFill>
          <a:blip r:embed="rId1"/>
          <a:stretch>
            <a:fillRect/>
          </a:stretch>
        </p:blipFill>
        <p:spPr>
          <a:xfrm>
            <a:off x="916229" y="2040941"/>
            <a:ext cx="307238" cy="307238"/>
          </a:xfrm>
          <a:prstGeom prst="rect">
            <a:avLst/>
          </a:prstGeom>
        </p:spPr>
      </p:pic>
      <p:sp>
        <p:nvSpPr>
          <p:cNvPr id="9" name="Text 6"/>
          <p:cNvSpPr/>
          <p:nvPr/>
        </p:nvSpPr>
        <p:spPr>
          <a:xfrm>
            <a:off x="1527048" y="1892808"/>
            <a:ext cx="4389120" cy="365760"/>
          </a:xfrm>
          <a:prstGeom prst="rect">
            <a:avLst/>
          </a:prstGeom>
          <a:noFill/>
          <a:ln/>
        </p:spPr>
        <p:txBody>
          <a:bodyPr wrap="square" lIns="0" tIns="0" rIns="0" bIns="0" rtlCol="0" anchor="ctr"/>
          <a:lstStyle/>
          <a:p>
            <a:pPr indent="0" marL="0">
              <a:buNone/>
            </a:pPr>
            <a:r>
              <a:rPr lang="en-US" sz="1650" b="1" dirty="0">
                <a:solidFill>
                  <a:srgbClr val="FFFFFF"/>
                </a:solidFill>
              </a:rPr>
              <a:t>5 trợ lý AI</a:t>
            </a:r>
            <a:endParaRPr lang="en-US" sz="1650" dirty="0"/>
          </a:p>
        </p:txBody>
      </p:sp>
      <p:sp>
        <p:nvSpPr>
          <p:cNvPr id="10" name="Text 7"/>
          <p:cNvSpPr/>
          <p:nvPr/>
        </p:nvSpPr>
        <p:spPr>
          <a:xfrm>
            <a:off x="1527048" y="2295144"/>
            <a:ext cx="4297680" cy="1188720"/>
          </a:xfrm>
          <a:prstGeom prst="rect">
            <a:avLst/>
          </a:prstGeom>
          <a:noFill/>
          <a:ln/>
        </p:spPr>
        <p:txBody>
          <a:bodyPr wrap="square" lIns="0" tIns="0" rIns="0" bIns="0" rtlCol="0" anchor="ctr"/>
          <a:lstStyle/>
          <a:p>
            <a:pPr indent="0" marL="0">
              <a:buNone/>
            </a:pPr>
            <a:r>
              <a:rPr lang="en-US" sz="1200" dirty="0">
                <a:solidFill>
                  <a:srgbClr val="AAB8CB"/>
                </a:solidFill>
              </a:rPr>
              <a:t>Chấm điểm lead tiềm năng, gợi ý hành động cho sales, điều phối đầu việc, phân tích số liệu, viết nhận định báo cáo.</a:t>
            </a:r>
            <a:endParaRPr lang="en-US" sz="1200" dirty="0"/>
          </a:p>
        </p:txBody>
      </p:sp>
      <p:sp>
        <p:nvSpPr>
          <p:cNvPr id="11" name="Shape 8"/>
          <p:cNvSpPr/>
          <p:nvPr/>
        </p:nvSpPr>
        <p:spPr>
          <a:xfrm>
            <a:off x="6327648" y="1691640"/>
            <a:ext cx="5532120" cy="1920240"/>
          </a:xfrm>
          <a:prstGeom prst="roundRect">
            <a:avLst>
              <a:gd name="adj" fmla="val 4286"/>
            </a:avLst>
          </a:prstGeom>
          <a:solidFill>
            <a:srgbClr val="13243C"/>
          </a:solidFill>
          <a:ln w="12700">
            <a:solidFill>
              <a:srgbClr val="1B3152"/>
            </a:solidFill>
            <a:prstDash val="solid"/>
          </a:ln>
        </p:spPr>
      </p:sp>
      <p:sp>
        <p:nvSpPr>
          <p:cNvPr id="12" name="Shape 9"/>
          <p:cNvSpPr/>
          <p:nvPr/>
        </p:nvSpPr>
        <p:spPr>
          <a:xfrm>
            <a:off x="6556248" y="1920240"/>
            <a:ext cx="548640" cy="548640"/>
          </a:xfrm>
          <a:prstGeom prst="ellipse">
            <a:avLst/>
          </a:prstGeom>
          <a:solidFill>
            <a:srgbClr val="C9A96E"/>
          </a:solidFill>
          <a:ln/>
        </p:spPr>
      </p:sp>
      <p:pic>
        <p:nvPicPr>
          <p:cNvPr id="13" name="Image 1" descr="preencoded.png">    </p:cNvPr>
          <p:cNvPicPr>
            <a:picLocks noChangeAspect="1"/>
          </p:cNvPicPr>
          <p:nvPr/>
        </p:nvPicPr>
        <p:blipFill>
          <a:blip r:embed="rId2"/>
          <a:stretch>
            <a:fillRect/>
          </a:stretch>
        </p:blipFill>
        <p:spPr>
          <a:xfrm>
            <a:off x="6676949" y="2040941"/>
            <a:ext cx="307238" cy="307238"/>
          </a:xfrm>
          <a:prstGeom prst="rect">
            <a:avLst/>
          </a:prstGeom>
        </p:spPr>
      </p:pic>
      <p:sp>
        <p:nvSpPr>
          <p:cNvPr id="14" name="Text 10"/>
          <p:cNvSpPr/>
          <p:nvPr/>
        </p:nvSpPr>
        <p:spPr>
          <a:xfrm>
            <a:off x="7287768" y="1892808"/>
            <a:ext cx="4389120" cy="365760"/>
          </a:xfrm>
          <a:prstGeom prst="rect">
            <a:avLst/>
          </a:prstGeom>
          <a:noFill/>
          <a:ln/>
        </p:spPr>
        <p:txBody>
          <a:bodyPr wrap="square" lIns="0" tIns="0" rIns="0" bIns="0" rtlCol="0" anchor="ctr"/>
          <a:lstStyle/>
          <a:p>
            <a:pPr indent="0" marL="0">
              <a:buNone/>
            </a:pPr>
            <a:r>
              <a:rPr lang="en-US" sz="1650" b="1" dirty="0">
                <a:solidFill>
                  <a:srgbClr val="FFFFFF"/>
                </a:solidFill>
              </a:rPr>
              <a:t>Bot Telegram trực 24/7</a:t>
            </a:r>
            <a:endParaRPr lang="en-US" sz="1650" dirty="0"/>
          </a:p>
        </p:txBody>
      </p:sp>
      <p:sp>
        <p:nvSpPr>
          <p:cNvPr id="15" name="Text 11"/>
          <p:cNvSpPr/>
          <p:nvPr/>
        </p:nvSpPr>
        <p:spPr>
          <a:xfrm>
            <a:off x="7287768" y="2295144"/>
            <a:ext cx="4297680" cy="1188720"/>
          </a:xfrm>
          <a:prstGeom prst="rect">
            <a:avLst/>
          </a:prstGeom>
          <a:noFill/>
          <a:ln/>
        </p:spPr>
        <p:txBody>
          <a:bodyPr wrap="square" lIns="0" tIns="0" rIns="0" bIns="0" rtlCol="0" anchor="ctr"/>
          <a:lstStyle/>
          <a:p>
            <a:pPr indent="0" marL="0">
              <a:buNone/>
            </a:pPr>
            <a:r>
              <a:rPr lang="en-US" sz="1200" dirty="0">
                <a:solidFill>
                  <a:srgbClr val="AAB8CB"/>
                </a:solidFill>
              </a:rPr>
              <a:t>Chấm công, xin nghỉ phép, nhận phiếu lương, duyệt yêu cầu, nhận nhắc việc — ngay trong ứng dụng chat quen thuộc.</a:t>
            </a:r>
            <a:endParaRPr lang="en-US" sz="1200" dirty="0"/>
          </a:p>
        </p:txBody>
      </p:sp>
      <p:sp>
        <p:nvSpPr>
          <p:cNvPr id="16" name="Shape 12"/>
          <p:cNvSpPr/>
          <p:nvPr/>
        </p:nvSpPr>
        <p:spPr>
          <a:xfrm>
            <a:off x="566928" y="3840480"/>
            <a:ext cx="5532120" cy="1920240"/>
          </a:xfrm>
          <a:prstGeom prst="roundRect">
            <a:avLst>
              <a:gd name="adj" fmla="val 4286"/>
            </a:avLst>
          </a:prstGeom>
          <a:solidFill>
            <a:srgbClr val="13243C"/>
          </a:solidFill>
          <a:ln w="12700">
            <a:solidFill>
              <a:srgbClr val="1B3152"/>
            </a:solidFill>
            <a:prstDash val="solid"/>
          </a:ln>
        </p:spPr>
      </p:sp>
      <p:sp>
        <p:nvSpPr>
          <p:cNvPr id="17" name="Shape 13"/>
          <p:cNvSpPr/>
          <p:nvPr/>
        </p:nvSpPr>
        <p:spPr>
          <a:xfrm>
            <a:off x="795528" y="4069080"/>
            <a:ext cx="548640" cy="548640"/>
          </a:xfrm>
          <a:prstGeom prst="ellipse">
            <a:avLst/>
          </a:prstGeom>
          <a:solidFill>
            <a:srgbClr val="C9A96E"/>
          </a:solidFill>
          <a:ln/>
        </p:spPr>
      </p:sp>
      <p:pic>
        <p:nvPicPr>
          <p:cNvPr id="18" name="Image 2" descr="preencoded.png">    </p:cNvPr>
          <p:cNvPicPr>
            <a:picLocks noChangeAspect="1"/>
          </p:cNvPicPr>
          <p:nvPr/>
        </p:nvPicPr>
        <p:blipFill>
          <a:blip r:embed="rId3"/>
          <a:stretch>
            <a:fillRect/>
          </a:stretch>
        </p:blipFill>
        <p:spPr>
          <a:xfrm>
            <a:off x="916229" y="4189781"/>
            <a:ext cx="307238" cy="307238"/>
          </a:xfrm>
          <a:prstGeom prst="rect">
            <a:avLst/>
          </a:prstGeom>
        </p:spPr>
      </p:pic>
      <p:sp>
        <p:nvSpPr>
          <p:cNvPr id="19" name="Text 14"/>
          <p:cNvSpPr/>
          <p:nvPr/>
        </p:nvSpPr>
        <p:spPr>
          <a:xfrm>
            <a:off x="1527048" y="4041648"/>
            <a:ext cx="4389120" cy="365760"/>
          </a:xfrm>
          <a:prstGeom prst="rect">
            <a:avLst/>
          </a:prstGeom>
          <a:noFill/>
          <a:ln/>
        </p:spPr>
        <p:txBody>
          <a:bodyPr wrap="square" lIns="0" tIns="0" rIns="0" bIns="0" rtlCol="0" anchor="ctr"/>
          <a:lstStyle/>
          <a:p>
            <a:pPr indent="0" marL="0">
              <a:buNone/>
            </a:pPr>
            <a:r>
              <a:rPr lang="en-US" sz="1650" b="1" dirty="0">
                <a:solidFill>
                  <a:srgbClr val="FFFFFF"/>
                </a:solidFill>
              </a:rPr>
              <a:t>Trợ lý lắng nghe Zalo</a:t>
            </a:r>
            <a:endParaRPr lang="en-US" sz="1650" dirty="0"/>
          </a:p>
        </p:txBody>
      </p:sp>
      <p:sp>
        <p:nvSpPr>
          <p:cNvPr id="20" name="Text 15"/>
          <p:cNvSpPr/>
          <p:nvPr/>
        </p:nvSpPr>
        <p:spPr>
          <a:xfrm>
            <a:off x="1527048" y="4443984"/>
            <a:ext cx="4297680" cy="1188720"/>
          </a:xfrm>
          <a:prstGeom prst="rect">
            <a:avLst/>
          </a:prstGeom>
          <a:noFill/>
          <a:ln/>
        </p:spPr>
        <p:txBody>
          <a:bodyPr wrap="square" lIns="0" tIns="0" rIns="0" bIns="0" rtlCol="0" anchor="ctr"/>
          <a:lstStyle/>
          <a:p>
            <a:pPr indent="0" marL="0">
              <a:buNone/>
            </a:pPr>
            <a:r>
              <a:rPr lang="en-US" sz="1200" dirty="0">
                <a:solidFill>
                  <a:srgbClr val="AAB8CB"/>
                </a:solidFill>
              </a:rPr>
              <a:t>Kênh khách hàng số 1 của chúng ta được lắng nghe tự động — tín hiệu quan trọng đẩy thẳng về cho người phụ trách.</a:t>
            </a:r>
            <a:endParaRPr lang="en-US" sz="1200" dirty="0"/>
          </a:p>
        </p:txBody>
      </p:sp>
      <p:sp>
        <p:nvSpPr>
          <p:cNvPr id="21" name="Shape 16"/>
          <p:cNvSpPr/>
          <p:nvPr/>
        </p:nvSpPr>
        <p:spPr>
          <a:xfrm>
            <a:off x="6327648" y="3840480"/>
            <a:ext cx="5532120" cy="1920240"/>
          </a:xfrm>
          <a:prstGeom prst="roundRect">
            <a:avLst>
              <a:gd name="adj" fmla="val 4286"/>
            </a:avLst>
          </a:prstGeom>
          <a:solidFill>
            <a:srgbClr val="13243C"/>
          </a:solidFill>
          <a:ln w="12700">
            <a:solidFill>
              <a:srgbClr val="1B3152"/>
            </a:solidFill>
            <a:prstDash val="solid"/>
          </a:ln>
        </p:spPr>
      </p:sp>
      <p:sp>
        <p:nvSpPr>
          <p:cNvPr id="22" name="Shape 17"/>
          <p:cNvSpPr/>
          <p:nvPr/>
        </p:nvSpPr>
        <p:spPr>
          <a:xfrm>
            <a:off x="6556248" y="4069080"/>
            <a:ext cx="548640" cy="548640"/>
          </a:xfrm>
          <a:prstGeom prst="ellipse">
            <a:avLst/>
          </a:prstGeom>
          <a:solidFill>
            <a:srgbClr val="C9A96E"/>
          </a:solidFill>
          <a:ln/>
        </p:spPr>
      </p:sp>
      <p:pic>
        <p:nvPicPr>
          <p:cNvPr id="23" name="Image 3" descr="preencoded.png">    </p:cNvPr>
          <p:cNvPicPr>
            <a:picLocks noChangeAspect="1"/>
          </p:cNvPicPr>
          <p:nvPr/>
        </p:nvPicPr>
        <p:blipFill>
          <a:blip r:embed="rId4"/>
          <a:stretch>
            <a:fillRect/>
          </a:stretch>
        </p:blipFill>
        <p:spPr>
          <a:xfrm>
            <a:off x="6676949" y="4189781"/>
            <a:ext cx="307238" cy="307238"/>
          </a:xfrm>
          <a:prstGeom prst="rect">
            <a:avLst/>
          </a:prstGeom>
        </p:spPr>
      </p:pic>
      <p:sp>
        <p:nvSpPr>
          <p:cNvPr id="24" name="Text 18"/>
          <p:cNvSpPr/>
          <p:nvPr/>
        </p:nvSpPr>
        <p:spPr>
          <a:xfrm>
            <a:off x="7287768" y="4041648"/>
            <a:ext cx="4389120" cy="365760"/>
          </a:xfrm>
          <a:prstGeom prst="rect">
            <a:avLst/>
          </a:prstGeom>
          <a:noFill/>
          <a:ln/>
        </p:spPr>
        <p:txBody>
          <a:bodyPr wrap="square" lIns="0" tIns="0" rIns="0" bIns="0" rtlCol="0" anchor="ctr"/>
          <a:lstStyle/>
          <a:p>
            <a:pPr indent="0" marL="0">
              <a:buNone/>
            </a:pPr>
            <a:r>
              <a:rPr lang="en-US" sz="1650" b="1" dirty="0">
                <a:solidFill>
                  <a:srgbClr val="FFFFFF"/>
                </a:solidFill>
              </a:rPr>
              <a:t>Nhắc việc không mỏi mệt</a:t>
            </a:r>
            <a:endParaRPr lang="en-US" sz="1650" dirty="0"/>
          </a:p>
        </p:txBody>
      </p:sp>
      <p:sp>
        <p:nvSpPr>
          <p:cNvPr id="25" name="Text 19"/>
          <p:cNvSpPr/>
          <p:nvPr/>
        </p:nvSpPr>
        <p:spPr>
          <a:xfrm>
            <a:off x="7287768" y="4443984"/>
            <a:ext cx="4297680" cy="1188720"/>
          </a:xfrm>
          <a:prstGeom prst="rect">
            <a:avLst/>
          </a:prstGeom>
          <a:noFill/>
          <a:ln/>
        </p:spPr>
        <p:txBody>
          <a:bodyPr wrap="square" lIns="0" tIns="0" rIns="0" bIns="0" rtlCol="0" anchor="ctr"/>
          <a:lstStyle/>
          <a:p>
            <a:pPr indent="0" marL="0">
              <a:buNone/>
            </a:pPr>
            <a:r>
              <a:rPr lang="en-US" sz="1200" dirty="0">
                <a:solidFill>
                  <a:srgbClr val="AAB8CB"/>
                </a:solidFill>
              </a:rPr>
              <a:t>Chăm khách sau 3 ngày, thu hồi lead bỏ quên, đòi công nợ đến hạn, nhắc bảo hành trước 30 ngày — tự động toàn bộ.</a:t>
            </a:r>
            <a:endParaRPr lang="en-US" sz="1200" dirty="0"/>
          </a:p>
        </p:txBody>
      </p:sp>
      <p:sp>
        <p:nvSpPr>
          <p:cNvPr id="26" name="Text 20"/>
          <p:cNvSpPr/>
          <p:nvPr/>
        </p:nvSpPr>
        <p:spPr>
          <a:xfrm>
            <a:off x="566928" y="5806440"/>
            <a:ext cx="11064240" cy="411480"/>
          </a:xfrm>
          <a:prstGeom prst="rect">
            <a:avLst/>
          </a:prstGeom>
          <a:noFill/>
          <a:ln/>
        </p:spPr>
        <p:txBody>
          <a:bodyPr wrap="square" lIns="0" tIns="0" rIns="0" bIns="0" rtlCol="0" anchor="ctr"/>
          <a:lstStyle/>
          <a:p>
            <a:pPr algn="ctr" indent="0" marL="0">
              <a:buNone/>
            </a:pPr>
            <a:r>
              <a:rPr lang="en-US" sz="1450" i="1" dirty="0">
                <a:solidFill>
                  <a:srgbClr val="C9A96E"/>
                </a:solidFill>
              </a:rPr>
              <a:t>Việc lặp lại để máy lo — con người dành cho khách hàng và sáng tạo.</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TRẢI NGHIỆM KHÁCH HÀNG ĐẲNG CẤP</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Customer Portal — khách hàng thấy tận mắt sự tử tế của chúng ta</a:t>
            </a:r>
            <a:endParaRPr lang="en-US" sz="3300" dirty="0"/>
          </a:p>
        </p:txBody>
      </p:sp>
      <p:sp>
        <p:nvSpPr>
          <p:cNvPr id="6" name="Shape 4"/>
          <p:cNvSpPr/>
          <p:nvPr/>
        </p:nvSpPr>
        <p:spPr>
          <a:xfrm>
            <a:off x="566928" y="1719072"/>
            <a:ext cx="512064" cy="512064"/>
          </a:xfrm>
          <a:prstGeom prst="ellipse">
            <a:avLst/>
          </a:prstGeom>
          <a:solidFill>
            <a:srgbClr val="C9A96E"/>
          </a:solidFill>
          <a:ln/>
        </p:spPr>
      </p:sp>
      <p:pic>
        <p:nvPicPr>
          <p:cNvPr id="7" name="Image 0" descr="preencoded.png">    </p:cNvPr>
          <p:cNvPicPr>
            <a:picLocks noChangeAspect="1"/>
          </p:cNvPicPr>
          <p:nvPr/>
        </p:nvPicPr>
        <p:blipFill>
          <a:blip r:embed="rId1"/>
          <a:stretch>
            <a:fillRect/>
          </a:stretch>
        </p:blipFill>
        <p:spPr>
          <a:xfrm>
            <a:off x="679582" y="1831726"/>
            <a:ext cx="286756" cy="286756"/>
          </a:xfrm>
          <a:prstGeom prst="rect">
            <a:avLst/>
          </a:prstGeom>
        </p:spPr>
      </p:pic>
      <p:sp>
        <p:nvSpPr>
          <p:cNvPr id="8" name="Text 5"/>
          <p:cNvSpPr/>
          <p:nvPr/>
        </p:nvSpPr>
        <p:spPr>
          <a:xfrm>
            <a:off x="1280160" y="163677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Mỗi khách một liên kết riêng</a:t>
            </a:r>
            <a:endParaRPr lang="en-US" sz="1650" dirty="0"/>
          </a:p>
        </p:txBody>
      </p:sp>
      <p:sp>
        <p:nvSpPr>
          <p:cNvPr id="9" name="Text 6"/>
          <p:cNvSpPr/>
          <p:nvPr/>
        </p:nvSpPr>
        <p:spPr>
          <a:xfrm>
            <a:off x="1280160" y="1947672"/>
            <a:ext cx="6144768" cy="566928"/>
          </a:xfrm>
          <a:prstGeom prst="rect">
            <a:avLst/>
          </a:prstGeom>
          <a:noFill/>
          <a:ln/>
        </p:spPr>
        <p:txBody>
          <a:bodyPr wrap="square" lIns="0" tIns="0" rIns="0" bIns="0" rtlCol="0" anchor="ctr"/>
          <a:lstStyle/>
          <a:p>
            <a:pPr indent="0" marL="0">
              <a:buNone/>
            </a:pPr>
            <a:r>
              <a:rPr lang="en-US" sz="1250" dirty="0">
                <a:solidFill>
                  <a:srgbClr val="AAB8CB"/>
                </a:solidFill>
              </a:rPr>
              <a:t>Gửi khách một đường link — không cần cài app, không cần mật khẩu phức tạp.</a:t>
            </a:r>
            <a:endParaRPr lang="en-US" sz="1250" dirty="0"/>
          </a:p>
        </p:txBody>
      </p:sp>
      <p:sp>
        <p:nvSpPr>
          <p:cNvPr id="10" name="Shape 7"/>
          <p:cNvSpPr/>
          <p:nvPr/>
        </p:nvSpPr>
        <p:spPr>
          <a:xfrm>
            <a:off x="566928" y="2724912"/>
            <a:ext cx="512064" cy="512064"/>
          </a:xfrm>
          <a:prstGeom prst="ellipse">
            <a:avLst/>
          </a:prstGeom>
          <a:solidFill>
            <a:srgbClr val="C9A96E"/>
          </a:solidFill>
          <a:ln/>
        </p:spPr>
      </p:sp>
      <p:pic>
        <p:nvPicPr>
          <p:cNvPr id="11" name="Image 1" descr="preencoded.png">    </p:cNvPr>
          <p:cNvPicPr>
            <a:picLocks noChangeAspect="1"/>
          </p:cNvPicPr>
          <p:nvPr/>
        </p:nvPicPr>
        <p:blipFill>
          <a:blip r:embed="rId2"/>
          <a:stretch>
            <a:fillRect/>
          </a:stretch>
        </p:blipFill>
        <p:spPr>
          <a:xfrm>
            <a:off x="679582" y="2837566"/>
            <a:ext cx="286756" cy="286756"/>
          </a:xfrm>
          <a:prstGeom prst="rect">
            <a:avLst/>
          </a:prstGeom>
        </p:spPr>
      </p:pic>
      <p:sp>
        <p:nvSpPr>
          <p:cNvPr id="12" name="Text 8"/>
          <p:cNvSpPr/>
          <p:nvPr/>
        </p:nvSpPr>
        <p:spPr>
          <a:xfrm>
            <a:off x="1280160" y="264261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Tiến độ tổ ấm minh bạch từng ngày</a:t>
            </a:r>
            <a:endParaRPr lang="en-US" sz="1650" dirty="0"/>
          </a:p>
        </p:txBody>
      </p:sp>
      <p:sp>
        <p:nvSpPr>
          <p:cNvPr id="13" name="Text 9"/>
          <p:cNvSpPr/>
          <p:nvPr/>
        </p:nvSpPr>
        <p:spPr>
          <a:xfrm>
            <a:off x="1280160" y="2953512"/>
            <a:ext cx="6144768" cy="566928"/>
          </a:xfrm>
          <a:prstGeom prst="rect">
            <a:avLst/>
          </a:prstGeom>
          <a:noFill/>
          <a:ln/>
        </p:spPr>
        <p:txBody>
          <a:bodyPr wrap="square" lIns="0" tIns="0" rIns="0" bIns="0" rtlCol="0" anchor="ctr"/>
          <a:lstStyle/>
          <a:p>
            <a:pPr indent="0" marL="0">
              <a:buNone/>
            </a:pPr>
            <a:r>
              <a:rPr lang="en-US" sz="1250" dirty="0">
                <a:solidFill>
                  <a:srgbClr val="AAB8CB"/>
                </a:solidFill>
              </a:rPr>
              <a:t>Khách xem tiến độ, hạng mục, hoạt động mới nhất của chính công trình mình — mọi lúc mọi nơi.</a:t>
            </a:r>
            <a:endParaRPr lang="en-US" sz="1250" dirty="0"/>
          </a:p>
        </p:txBody>
      </p:sp>
      <p:sp>
        <p:nvSpPr>
          <p:cNvPr id="14" name="Shape 10"/>
          <p:cNvSpPr/>
          <p:nvPr/>
        </p:nvSpPr>
        <p:spPr>
          <a:xfrm>
            <a:off x="566928" y="3730752"/>
            <a:ext cx="512064" cy="512064"/>
          </a:xfrm>
          <a:prstGeom prst="ellipse">
            <a:avLst/>
          </a:prstGeom>
          <a:solidFill>
            <a:srgbClr val="C9A96E"/>
          </a:solidFill>
          <a:ln/>
        </p:spPr>
      </p:sp>
      <p:pic>
        <p:nvPicPr>
          <p:cNvPr id="15" name="Image 2" descr="preencoded.png">    </p:cNvPr>
          <p:cNvPicPr>
            <a:picLocks noChangeAspect="1"/>
          </p:cNvPicPr>
          <p:nvPr/>
        </p:nvPicPr>
        <p:blipFill>
          <a:blip r:embed="rId3"/>
          <a:stretch>
            <a:fillRect/>
          </a:stretch>
        </p:blipFill>
        <p:spPr>
          <a:xfrm>
            <a:off x="679582" y="3843406"/>
            <a:ext cx="286756" cy="286756"/>
          </a:xfrm>
          <a:prstGeom prst="rect">
            <a:avLst/>
          </a:prstGeom>
        </p:spPr>
      </p:pic>
      <p:sp>
        <p:nvSpPr>
          <p:cNvPr id="16" name="Text 11"/>
          <p:cNvSpPr/>
          <p:nvPr/>
        </p:nvSpPr>
        <p:spPr>
          <a:xfrm>
            <a:off x="1280160" y="364845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Nghiệm thu online từng giai đoạn</a:t>
            </a:r>
            <a:endParaRPr lang="en-US" sz="1650" dirty="0"/>
          </a:p>
        </p:txBody>
      </p:sp>
      <p:sp>
        <p:nvSpPr>
          <p:cNvPr id="17" name="Text 12"/>
          <p:cNvSpPr/>
          <p:nvPr/>
        </p:nvSpPr>
        <p:spPr>
          <a:xfrm>
            <a:off x="1280160" y="3959352"/>
            <a:ext cx="6144768" cy="566928"/>
          </a:xfrm>
          <a:prstGeom prst="rect">
            <a:avLst/>
          </a:prstGeom>
          <a:noFill/>
          <a:ln/>
        </p:spPr>
        <p:txBody>
          <a:bodyPr wrap="square" lIns="0" tIns="0" rIns="0" bIns="0" rtlCol="0" anchor="ctr"/>
          <a:lstStyle/>
          <a:p>
            <a:pPr indent="0" marL="0">
              <a:buNone/>
            </a:pPr>
            <a:r>
              <a:rPr lang="en-US" sz="1250" dirty="0">
                <a:solidFill>
                  <a:srgbClr val="AAB8CB"/>
                </a:solidFill>
              </a:rPr>
              <a:t>Hài lòng là bấm xác nhận — lưu dấu thời gian rõ ràng. Chuyên nghiệp, không tranh cãi.</a:t>
            </a:r>
            <a:endParaRPr lang="en-US" sz="1250" dirty="0"/>
          </a:p>
        </p:txBody>
      </p:sp>
      <p:sp>
        <p:nvSpPr>
          <p:cNvPr id="18" name="Shape 13"/>
          <p:cNvSpPr/>
          <p:nvPr/>
        </p:nvSpPr>
        <p:spPr>
          <a:xfrm>
            <a:off x="566928" y="4736592"/>
            <a:ext cx="512064" cy="512064"/>
          </a:xfrm>
          <a:prstGeom prst="ellipse">
            <a:avLst/>
          </a:prstGeom>
          <a:solidFill>
            <a:srgbClr val="C9A96E"/>
          </a:solidFill>
          <a:ln/>
        </p:spPr>
      </p:sp>
      <p:pic>
        <p:nvPicPr>
          <p:cNvPr id="19" name="Image 3" descr="preencoded.png">    </p:cNvPr>
          <p:cNvPicPr>
            <a:picLocks noChangeAspect="1"/>
          </p:cNvPicPr>
          <p:nvPr/>
        </p:nvPicPr>
        <p:blipFill>
          <a:blip r:embed="rId4"/>
          <a:stretch>
            <a:fillRect/>
          </a:stretch>
        </p:blipFill>
        <p:spPr>
          <a:xfrm>
            <a:off x="679582" y="4849246"/>
            <a:ext cx="286756" cy="286756"/>
          </a:xfrm>
          <a:prstGeom prst="rect">
            <a:avLst/>
          </a:prstGeom>
        </p:spPr>
      </p:pic>
      <p:sp>
        <p:nvSpPr>
          <p:cNvPr id="20" name="Text 14"/>
          <p:cNvSpPr/>
          <p:nvPr/>
        </p:nvSpPr>
        <p:spPr>
          <a:xfrm>
            <a:off x="1280160" y="4654296"/>
            <a:ext cx="6144768" cy="329184"/>
          </a:xfrm>
          <a:prstGeom prst="rect">
            <a:avLst/>
          </a:prstGeom>
          <a:noFill/>
          <a:ln/>
        </p:spPr>
        <p:txBody>
          <a:bodyPr wrap="square" lIns="0" tIns="0" rIns="0" bIns="0" rtlCol="0" anchor="ctr"/>
          <a:lstStyle/>
          <a:p>
            <a:pPr indent="0" marL="0">
              <a:buNone/>
            </a:pPr>
            <a:r>
              <a:rPr lang="en-US" sz="1650" b="1" dirty="0">
                <a:solidFill>
                  <a:srgbClr val="FFFFFF"/>
                </a:solidFill>
              </a:rPr>
              <a:t>Trải nghiệm tốt sinh ra giới thiệu</a:t>
            </a:r>
            <a:endParaRPr lang="en-US" sz="1650" dirty="0"/>
          </a:p>
        </p:txBody>
      </p:sp>
      <p:sp>
        <p:nvSpPr>
          <p:cNvPr id="21" name="Text 15"/>
          <p:cNvSpPr/>
          <p:nvPr/>
        </p:nvSpPr>
        <p:spPr>
          <a:xfrm>
            <a:off x="1280160" y="4965192"/>
            <a:ext cx="6144768" cy="566928"/>
          </a:xfrm>
          <a:prstGeom prst="rect">
            <a:avLst/>
          </a:prstGeom>
          <a:noFill/>
          <a:ln/>
        </p:spPr>
        <p:txBody>
          <a:bodyPr wrap="square" lIns="0" tIns="0" rIns="0" bIns="0" rtlCol="0" anchor="ctr"/>
          <a:lstStyle/>
          <a:p>
            <a:pPr indent="0" marL="0">
              <a:buNone/>
            </a:pPr>
            <a:r>
              <a:rPr lang="en-US" sz="1250" dirty="0">
                <a:solidFill>
                  <a:srgbClr val="AAB8CB"/>
                </a:solidFill>
              </a:rPr>
              <a:t>Khách hài lòng kể cho bạn bè — nguồn hợp đồng chất lượng nhất, chi phí bằng 0.</a:t>
            </a:r>
            <a:endParaRPr lang="en-US" sz="1250" dirty="0"/>
          </a:p>
        </p:txBody>
      </p:sp>
      <p:sp>
        <p:nvSpPr>
          <p:cNvPr id="22" name="Shape 16"/>
          <p:cNvSpPr/>
          <p:nvPr/>
        </p:nvSpPr>
        <p:spPr>
          <a:xfrm>
            <a:off x="7863840" y="1691640"/>
            <a:ext cx="3794760" cy="4069080"/>
          </a:xfrm>
          <a:prstGeom prst="roundRect">
            <a:avLst>
              <a:gd name="adj" fmla="val 2410"/>
            </a:avLst>
          </a:prstGeom>
          <a:solidFill>
            <a:srgbClr val="13243C"/>
          </a:solidFill>
          <a:ln w="12700">
            <a:solidFill>
              <a:srgbClr val="B8935A"/>
            </a:solidFill>
            <a:prstDash val="solid"/>
          </a:ln>
        </p:spPr>
      </p:sp>
      <p:sp>
        <p:nvSpPr>
          <p:cNvPr id="23" name="Shape 17"/>
          <p:cNvSpPr/>
          <p:nvPr/>
        </p:nvSpPr>
        <p:spPr>
          <a:xfrm>
            <a:off x="9473184" y="2103120"/>
            <a:ext cx="566928" cy="566928"/>
          </a:xfrm>
          <a:prstGeom prst="ellipse">
            <a:avLst/>
          </a:prstGeom>
          <a:solidFill>
            <a:srgbClr val="C9A96E"/>
          </a:solidFill>
          <a:ln/>
        </p:spPr>
      </p:sp>
      <p:pic>
        <p:nvPicPr>
          <p:cNvPr id="24" name="Image 4" descr="preencoded.png">    </p:cNvPr>
          <p:cNvPicPr>
            <a:picLocks noChangeAspect="1"/>
          </p:cNvPicPr>
          <p:nvPr/>
        </p:nvPicPr>
        <p:blipFill>
          <a:blip r:embed="rId5"/>
          <a:stretch>
            <a:fillRect/>
          </a:stretch>
        </p:blipFill>
        <p:spPr>
          <a:xfrm>
            <a:off x="9597908" y="2227844"/>
            <a:ext cx="317480" cy="317480"/>
          </a:xfrm>
          <a:prstGeom prst="rect">
            <a:avLst/>
          </a:prstGeom>
        </p:spPr>
      </p:pic>
      <p:sp>
        <p:nvSpPr>
          <p:cNvPr id="25" name="Text 18"/>
          <p:cNvSpPr/>
          <p:nvPr/>
        </p:nvSpPr>
        <p:spPr>
          <a:xfrm>
            <a:off x="8001000" y="2880360"/>
            <a:ext cx="3520440" cy="365760"/>
          </a:xfrm>
          <a:prstGeom prst="rect">
            <a:avLst/>
          </a:prstGeom>
          <a:noFill/>
          <a:ln/>
        </p:spPr>
        <p:txBody>
          <a:bodyPr wrap="square" lIns="0" tIns="0" rIns="0" bIns="0" rtlCol="0" anchor="ctr"/>
          <a:lstStyle/>
          <a:p>
            <a:pPr algn="ctr" indent="0" marL="0">
              <a:buNone/>
            </a:pPr>
            <a:r>
              <a:rPr lang="en-US" sz="1700" b="1" dirty="0">
                <a:solidFill>
                  <a:srgbClr val="FFFFFF"/>
                </a:solidFill>
              </a:rPr>
              <a:t>Uy tín hôm nay</a:t>
            </a:r>
            <a:endParaRPr lang="en-US" sz="1700" dirty="0"/>
          </a:p>
        </p:txBody>
      </p:sp>
      <p:sp>
        <p:nvSpPr>
          <p:cNvPr id="26" name="Text 19"/>
          <p:cNvSpPr/>
          <p:nvPr/>
        </p:nvSpPr>
        <p:spPr>
          <a:xfrm>
            <a:off x="8001000" y="3246120"/>
            <a:ext cx="3520440" cy="365760"/>
          </a:xfrm>
          <a:prstGeom prst="rect">
            <a:avLst/>
          </a:prstGeom>
          <a:noFill/>
          <a:ln/>
        </p:spPr>
        <p:txBody>
          <a:bodyPr wrap="square" lIns="0" tIns="0" rIns="0" bIns="0" rtlCol="0" anchor="ctr"/>
          <a:lstStyle/>
          <a:p>
            <a:pPr algn="ctr" indent="0" marL="0">
              <a:buNone/>
            </a:pPr>
            <a:r>
              <a:rPr lang="en-US" sz="1700" b="1" dirty="0">
                <a:solidFill>
                  <a:srgbClr val="C9A96E"/>
                </a:solidFill>
              </a:rPr>
              <a:t>= hợp đồng ngày mai</a:t>
            </a:r>
            <a:endParaRPr lang="en-US" sz="1700" dirty="0"/>
          </a:p>
        </p:txBody>
      </p:sp>
      <p:sp>
        <p:nvSpPr>
          <p:cNvPr id="27" name="Text 20"/>
          <p:cNvSpPr/>
          <p:nvPr/>
        </p:nvSpPr>
        <p:spPr>
          <a:xfrm>
            <a:off x="8092440" y="3931920"/>
            <a:ext cx="3337560" cy="1097280"/>
          </a:xfrm>
          <a:prstGeom prst="rect">
            <a:avLst/>
          </a:prstGeom>
          <a:noFill/>
          <a:ln/>
        </p:spPr>
        <p:txBody>
          <a:bodyPr wrap="square" lIns="0" tIns="0" rIns="0" bIns="0" rtlCol="0" anchor="ctr"/>
          <a:lstStyle/>
          <a:p>
            <a:pPr algn="ctr" indent="0" marL="0">
              <a:buNone/>
            </a:pPr>
            <a:r>
              <a:rPr lang="en-US" sz="1200" i="1" dirty="0">
                <a:solidFill>
                  <a:srgbClr val="AAB8CB"/>
                </a:solidFill>
              </a:rPr>
              <a:t>Trong thời đại khách hàng so sánh từng trải nghiệm, sự minh bạch chính là lợi thế cạnh tranh.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10268712" y="-1005840"/>
            <a:ext cx="2926080" cy="2926080"/>
          </a:xfrm>
          <a:prstGeom prst="ellipse">
            <a:avLst/>
          </a:prstGeom>
          <a:solidFill>
            <a:srgbClr val="C9A96E">
              <a:alpha val="10000"/>
            </a:srgbClr>
          </a:solidFill>
          <a:ln/>
        </p:spPr>
      </p:sp>
      <p:sp>
        <p:nvSpPr>
          <p:cNvPr id="3" name="Shape 1"/>
          <p:cNvSpPr/>
          <p:nvPr/>
        </p:nvSpPr>
        <p:spPr>
          <a:xfrm>
            <a:off x="11503152" y="1417320"/>
            <a:ext cx="146304" cy="146304"/>
          </a:xfrm>
          <a:prstGeom prst="ellipse">
            <a:avLst/>
          </a:prstGeom>
          <a:solidFill>
            <a:srgbClr val="C9A96E">
              <a:alpha val="65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VÌ SAO MỖI CHÚNG TA ĐỀU HƯỞNG LỢI</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Công ty thắng — Anh em thắng</a:t>
            </a:r>
            <a:endParaRPr lang="en-US" sz="3300" dirty="0"/>
          </a:p>
        </p:txBody>
      </p:sp>
      <p:sp>
        <p:nvSpPr>
          <p:cNvPr id="6" name="Shape 4"/>
          <p:cNvSpPr/>
          <p:nvPr/>
        </p:nvSpPr>
        <p:spPr>
          <a:xfrm>
            <a:off x="566928" y="1783080"/>
            <a:ext cx="3611880" cy="3291840"/>
          </a:xfrm>
          <a:prstGeom prst="roundRect">
            <a:avLst>
              <a:gd name="adj" fmla="val 2778"/>
            </a:avLst>
          </a:prstGeom>
          <a:solidFill>
            <a:srgbClr val="13243C"/>
          </a:solidFill>
          <a:ln w="12700">
            <a:solidFill>
              <a:srgbClr val="1B3152"/>
            </a:solidFill>
            <a:prstDash val="solid"/>
          </a:ln>
        </p:spPr>
      </p:sp>
      <p:sp>
        <p:nvSpPr>
          <p:cNvPr id="7" name="Shape 5"/>
          <p:cNvSpPr/>
          <p:nvPr/>
        </p:nvSpPr>
        <p:spPr>
          <a:xfrm>
            <a:off x="2043684" y="2103120"/>
            <a:ext cx="658368" cy="658368"/>
          </a:xfrm>
          <a:prstGeom prst="ellipse">
            <a:avLst/>
          </a:prstGeom>
          <a:solidFill>
            <a:srgbClr val="C9A96E"/>
          </a:solidFill>
          <a:ln/>
        </p:spPr>
      </p:sp>
      <p:pic>
        <p:nvPicPr>
          <p:cNvPr id="8" name="Image 0" descr="preencoded.png">    </p:cNvPr>
          <p:cNvPicPr>
            <a:picLocks noChangeAspect="1"/>
          </p:cNvPicPr>
          <p:nvPr/>
        </p:nvPicPr>
        <p:blipFill>
          <a:blip r:embed="rId1"/>
          <a:stretch>
            <a:fillRect/>
          </a:stretch>
        </p:blipFill>
        <p:spPr>
          <a:xfrm>
            <a:off x="2188525" y="2247961"/>
            <a:ext cx="368686" cy="368686"/>
          </a:xfrm>
          <a:prstGeom prst="rect">
            <a:avLst/>
          </a:prstGeom>
        </p:spPr>
      </p:pic>
      <p:sp>
        <p:nvSpPr>
          <p:cNvPr id="9" name="Text 6"/>
          <p:cNvSpPr/>
          <p:nvPr/>
        </p:nvSpPr>
        <p:spPr>
          <a:xfrm>
            <a:off x="749808" y="2971800"/>
            <a:ext cx="3246120" cy="411480"/>
          </a:xfrm>
          <a:prstGeom prst="rect">
            <a:avLst/>
          </a:prstGeom>
          <a:noFill/>
          <a:ln/>
        </p:spPr>
        <p:txBody>
          <a:bodyPr wrap="square" lIns="0" tIns="0" rIns="0" bIns="0" rtlCol="0" anchor="ctr"/>
          <a:lstStyle/>
          <a:p>
            <a:pPr algn="ctr" indent="0" marL="0">
              <a:buNone/>
            </a:pPr>
            <a:r>
              <a:rPr lang="en-US" sz="1800" b="1" dirty="0">
                <a:solidFill>
                  <a:srgbClr val="C9A96E"/>
                </a:solidFill>
              </a:rPr>
              <a:t>Năng suất nhân đôi</a:t>
            </a:r>
            <a:endParaRPr lang="en-US" sz="1800" dirty="0"/>
          </a:p>
        </p:txBody>
      </p:sp>
      <p:sp>
        <p:nvSpPr>
          <p:cNvPr id="10" name="Text 7"/>
          <p:cNvSpPr/>
          <p:nvPr/>
        </p:nvSpPr>
        <p:spPr>
          <a:xfrm>
            <a:off x="841248" y="3474720"/>
            <a:ext cx="3063240" cy="1463040"/>
          </a:xfrm>
          <a:prstGeom prst="rect">
            <a:avLst/>
          </a:prstGeom>
          <a:noFill/>
          <a:ln/>
        </p:spPr>
        <p:txBody>
          <a:bodyPr wrap="square" lIns="0" tIns="0" rIns="0" bIns="0" rtlCol="0" anchor="ctr"/>
          <a:lstStyle/>
          <a:p>
            <a:pPr algn="ctr" indent="0" marL="0">
              <a:buNone/>
            </a:pPr>
            <a:r>
              <a:rPr lang="en-US" sz="1250" dirty="0">
                <a:solidFill>
                  <a:srgbClr val="E8EEF6"/>
                </a:solidFill>
              </a:rPr>
              <a:t>Bớt việc tay chân, giấy tờ, gõ lại số liệu. Thời gian đó dành cho khách hàng — nơi tạo ra giá trị và doanh thu.</a:t>
            </a:r>
            <a:endParaRPr lang="en-US" sz="1250" dirty="0"/>
          </a:p>
        </p:txBody>
      </p:sp>
      <p:sp>
        <p:nvSpPr>
          <p:cNvPr id="11" name="Shape 8"/>
          <p:cNvSpPr/>
          <p:nvPr/>
        </p:nvSpPr>
        <p:spPr>
          <a:xfrm>
            <a:off x="4398264" y="1783080"/>
            <a:ext cx="3611880" cy="3291840"/>
          </a:xfrm>
          <a:prstGeom prst="roundRect">
            <a:avLst>
              <a:gd name="adj" fmla="val 2778"/>
            </a:avLst>
          </a:prstGeom>
          <a:solidFill>
            <a:srgbClr val="13243C"/>
          </a:solidFill>
          <a:ln w="12700">
            <a:solidFill>
              <a:srgbClr val="1B3152"/>
            </a:solidFill>
            <a:prstDash val="solid"/>
          </a:ln>
        </p:spPr>
      </p:sp>
      <p:sp>
        <p:nvSpPr>
          <p:cNvPr id="12" name="Shape 9"/>
          <p:cNvSpPr/>
          <p:nvPr/>
        </p:nvSpPr>
        <p:spPr>
          <a:xfrm>
            <a:off x="5875020" y="2103120"/>
            <a:ext cx="658368" cy="658368"/>
          </a:xfrm>
          <a:prstGeom prst="ellipse">
            <a:avLst/>
          </a:prstGeom>
          <a:solidFill>
            <a:srgbClr val="C9A96E"/>
          </a:solidFill>
          <a:ln/>
        </p:spPr>
      </p:sp>
      <p:pic>
        <p:nvPicPr>
          <p:cNvPr id="13" name="Image 1" descr="preencoded.png">    </p:cNvPr>
          <p:cNvPicPr>
            <a:picLocks noChangeAspect="1"/>
          </p:cNvPicPr>
          <p:nvPr/>
        </p:nvPicPr>
        <p:blipFill>
          <a:blip r:embed="rId2"/>
          <a:stretch>
            <a:fillRect/>
          </a:stretch>
        </p:blipFill>
        <p:spPr>
          <a:xfrm>
            <a:off x="6019861" y="2247961"/>
            <a:ext cx="368686" cy="368686"/>
          </a:xfrm>
          <a:prstGeom prst="rect">
            <a:avLst/>
          </a:prstGeom>
        </p:spPr>
      </p:pic>
      <p:sp>
        <p:nvSpPr>
          <p:cNvPr id="14" name="Text 10"/>
          <p:cNvSpPr/>
          <p:nvPr/>
        </p:nvSpPr>
        <p:spPr>
          <a:xfrm>
            <a:off x="4581144" y="2971800"/>
            <a:ext cx="3246120" cy="411480"/>
          </a:xfrm>
          <a:prstGeom prst="rect">
            <a:avLst/>
          </a:prstGeom>
          <a:noFill/>
          <a:ln/>
        </p:spPr>
        <p:txBody>
          <a:bodyPr wrap="square" lIns="0" tIns="0" rIns="0" bIns="0" rtlCol="0" anchor="ctr"/>
          <a:lstStyle/>
          <a:p>
            <a:pPr algn="ctr" indent="0" marL="0">
              <a:buNone/>
            </a:pPr>
            <a:r>
              <a:rPr lang="en-US" sz="1800" b="1" dirty="0">
                <a:solidFill>
                  <a:srgbClr val="C9A96E"/>
                </a:solidFill>
              </a:rPr>
              <a:t>Thu nhập đi lên</a:t>
            </a:r>
            <a:endParaRPr lang="en-US" sz="1800" dirty="0"/>
          </a:p>
        </p:txBody>
      </p:sp>
      <p:sp>
        <p:nvSpPr>
          <p:cNvPr id="15" name="Text 11"/>
          <p:cNvSpPr/>
          <p:nvPr/>
        </p:nvSpPr>
        <p:spPr>
          <a:xfrm>
            <a:off x="4672584" y="3474720"/>
            <a:ext cx="3063240" cy="1463040"/>
          </a:xfrm>
          <a:prstGeom prst="rect">
            <a:avLst/>
          </a:prstGeom>
          <a:noFill/>
          <a:ln/>
        </p:spPr>
        <p:txBody>
          <a:bodyPr wrap="square" lIns="0" tIns="0" rIns="0" bIns="0" rtlCol="0" anchor="ctr"/>
          <a:lstStyle/>
          <a:p>
            <a:pPr algn="ctr" indent="0" marL="0">
              <a:buNone/>
            </a:pPr>
            <a:r>
              <a:rPr lang="en-US" sz="1250" dirty="0">
                <a:solidFill>
                  <a:srgbClr val="E8EEF6"/>
                </a:solidFill>
              </a:rPr>
              <a:t>Chốt nhanh hơn, không mất lead, hoa hồng minh bạch, KPI được ghi nhận — làm tốt là thấy ngay trong túi.</a:t>
            </a:r>
            <a:endParaRPr lang="en-US" sz="1250" dirty="0"/>
          </a:p>
        </p:txBody>
      </p:sp>
      <p:sp>
        <p:nvSpPr>
          <p:cNvPr id="16" name="Shape 12"/>
          <p:cNvSpPr/>
          <p:nvPr/>
        </p:nvSpPr>
        <p:spPr>
          <a:xfrm>
            <a:off x="8229600" y="1783080"/>
            <a:ext cx="3611880" cy="3291840"/>
          </a:xfrm>
          <a:prstGeom prst="roundRect">
            <a:avLst>
              <a:gd name="adj" fmla="val 2778"/>
            </a:avLst>
          </a:prstGeom>
          <a:solidFill>
            <a:srgbClr val="13243C"/>
          </a:solidFill>
          <a:ln w="12700">
            <a:solidFill>
              <a:srgbClr val="1B3152"/>
            </a:solidFill>
            <a:prstDash val="solid"/>
          </a:ln>
        </p:spPr>
      </p:sp>
      <p:sp>
        <p:nvSpPr>
          <p:cNvPr id="17" name="Shape 13"/>
          <p:cNvSpPr/>
          <p:nvPr/>
        </p:nvSpPr>
        <p:spPr>
          <a:xfrm>
            <a:off x="9706356" y="2103120"/>
            <a:ext cx="658368" cy="658368"/>
          </a:xfrm>
          <a:prstGeom prst="ellipse">
            <a:avLst/>
          </a:prstGeom>
          <a:solidFill>
            <a:srgbClr val="C9A96E"/>
          </a:solidFill>
          <a:ln/>
        </p:spPr>
      </p:sp>
      <p:pic>
        <p:nvPicPr>
          <p:cNvPr id="18" name="Image 2" descr="preencoded.png">    </p:cNvPr>
          <p:cNvPicPr>
            <a:picLocks noChangeAspect="1"/>
          </p:cNvPicPr>
          <p:nvPr/>
        </p:nvPicPr>
        <p:blipFill>
          <a:blip r:embed="rId3"/>
          <a:stretch>
            <a:fillRect/>
          </a:stretch>
        </p:blipFill>
        <p:spPr>
          <a:xfrm>
            <a:off x="9851197" y="2247961"/>
            <a:ext cx="368686" cy="368686"/>
          </a:xfrm>
          <a:prstGeom prst="rect">
            <a:avLst/>
          </a:prstGeom>
        </p:spPr>
      </p:pic>
      <p:sp>
        <p:nvSpPr>
          <p:cNvPr id="19" name="Text 14"/>
          <p:cNvSpPr/>
          <p:nvPr/>
        </p:nvSpPr>
        <p:spPr>
          <a:xfrm>
            <a:off x="8412480" y="2971800"/>
            <a:ext cx="3246120" cy="411480"/>
          </a:xfrm>
          <a:prstGeom prst="rect">
            <a:avLst/>
          </a:prstGeom>
          <a:noFill/>
          <a:ln/>
        </p:spPr>
        <p:txBody>
          <a:bodyPr wrap="square" lIns="0" tIns="0" rIns="0" bIns="0" rtlCol="0" anchor="ctr"/>
          <a:lstStyle/>
          <a:p>
            <a:pPr algn="ctr" indent="0" marL="0">
              <a:buNone/>
            </a:pPr>
            <a:r>
              <a:rPr lang="en-US" sz="1800" b="1" dirty="0">
                <a:solidFill>
                  <a:srgbClr val="C9A96E"/>
                </a:solidFill>
              </a:rPr>
              <a:t>Vươn xa cùng thời đại</a:t>
            </a:r>
            <a:endParaRPr lang="en-US" sz="1800" dirty="0"/>
          </a:p>
        </p:txBody>
      </p:sp>
      <p:sp>
        <p:nvSpPr>
          <p:cNvPr id="20" name="Text 15"/>
          <p:cNvSpPr/>
          <p:nvPr/>
        </p:nvSpPr>
        <p:spPr>
          <a:xfrm>
            <a:off x="8503920" y="3474720"/>
            <a:ext cx="3063240" cy="1463040"/>
          </a:xfrm>
          <a:prstGeom prst="rect">
            <a:avLst/>
          </a:prstGeom>
          <a:noFill/>
          <a:ln/>
        </p:spPr>
        <p:txBody>
          <a:bodyPr wrap="square" lIns="0" tIns="0" rIns="0" bIns="0" rtlCol="0" anchor="ctr"/>
          <a:lstStyle/>
          <a:p>
            <a:pPr algn="ctr" indent="0" marL="0">
              <a:buNone/>
            </a:pPr>
            <a:r>
              <a:rPr lang="en-US" sz="1250" dirty="0">
                <a:solidFill>
                  <a:srgbClr val="E8EEF6"/>
                </a:solidFill>
              </a:rPr>
              <a:t>Việt Nam mở cửa, khách hàng chuẩn quốc tế. Vận hành chuyên nghiệp đưa JAMA HOME — và sự nghiệp của bạn — lên tầm mới.</a:t>
            </a:r>
            <a:endParaRPr lang="en-US" sz="1250" dirty="0"/>
          </a:p>
        </p:txBody>
      </p:sp>
      <p:sp>
        <p:nvSpPr>
          <p:cNvPr id="21" name="Text 16"/>
          <p:cNvSpPr/>
          <p:nvPr/>
        </p:nvSpPr>
        <p:spPr>
          <a:xfrm>
            <a:off x="566928" y="5486400"/>
            <a:ext cx="11064240" cy="457200"/>
          </a:xfrm>
          <a:prstGeom prst="rect">
            <a:avLst/>
          </a:prstGeom>
          <a:noFill/>
          <a:ln/>
        </p:spPr>
        <p:txBody>
          <a:bodyPr wrap="square" lIns="0" tIns="0" rIns="0" bIns="0" rtlCol="0" anchor="ctr"/>
          <a:lstStyle/>
          <a:p>
            <a:pPr algn="ctr" indent="0" marL="0">
              <a:buNone/>
            </a:pPr>
            <a:r>
              <a:rPr lang="en-US" sz="1500" i="1" dirty="0">
                <a:solidFill>
                  <a:srgbClr val="C9A96E"/>
                </a:solidFill>
              </a:rPr>
              <a:t>“Hệ thống không thay thế con người — nó nhân sức mạnh của từng người lên nhiều lần.”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428"/>
        </a:solidFill>
      </p:bgPr>
    </p:bg>
    <p:spTree>
      <p:nvGrpSpPr>
        <p:cNvPr id="1" name=""/>
        <p:cNvGrpSpPr/>
        <p:nvPr/>
      </p:nvGrpSpPr>
      <p:grpSpPr>
        <a:xfrm>
          <a:off x="0" y="0"/>
          <a:ext cx="0" cy="0"/>
          <a:chOff x="0" y="0"/>
          <a:chExt cx="0" cy="0"/>
        </a:xfrm>
      </p:grpSpPr>
      <p:sp>
        <p:nvSpPr>
          <p:cNvPr id="2" name="Shape 0"/>
          <p:cNvSpPr/>
          <p:nvPr/>
        </p:nvSpPr>
        <p:spPr>
          <a:xfrm>
            <a:off x="-2011680" y="-2560320"/>
            <a:ext cx="5486400" cy="5486400"/>
          </a:xfrm>
          <a:prstGeom prst="ellipse">
            <a:avLst/>
          </a:prstGeom>
          <a:solidFill>
            <a:srgbClr val="C9A96E">
              <a:alpha val="10000"/>
            </a:srgbClr>
          </a:solidFill>
          <a:ln/>
        </p:spPr>
      </p:sp>
      <p:sp>
        <p:nvSpPr>
          <p:cNvPr id="3" name="Shape 1"/>
          <p:cNvSpPr/>
          <p:nvPr/>
        </p:nvSpPr>
        <p:spPr>
          <a:xfrm>
            <a:off x="9326880" y="4023360"/>
            <a:ext cx="5486400" cy="5486400"/>
          </a:xfrm>
          <a:prstGeom prst="ellipse">
            <a:avLst/>
          </a:prstGeom>
          <a:solidFill>
            <a:srgbClr val="C9A96E">
              <a:alpha val="8000"/>
            </a:srgbClr>
          </a:solidFill>
          <a:ln/>
        </p:spPr>
      </p:sp>
      <p:sp>
        <p:nvSpPr>
          <p:cNvPr id="4" name="Text 2"/>
          <p:cNvSpPr/>
          <p:nvPr/>
        </p:nvSpPr>
        <p:spPr>
          <a:xfrm>
            <a:off x="566928" y="128016"/>
            <a:ext cx="8229600" cy="292608"/>
          </a:xfrm>
          <a:prstGeom prst="rect">
            <a:avLst/>
          </a:prstGeom>
          <a:noFill/>
          <a:ln/>
        </p:spPr>
        <p:txBody>
          <a:bodyPr wrap="square" lIns="0" tIns="0" rIns="0" bIns="0" rtlCol="0" anchor="ctr"/>
          <a:lstStyle/>
          <a:p>
            <a:pPr indent="0" marL="0">
              <a:buNone/>
            </a:pPr>
            <a:r>
              <a:rPr lang="en-US" sz="1200" b="1" spc="300" kern="0" dirty="0">
                <a:solidFill>
                  <a:srgbClr val="C9A96E"/>
                </a:solidFill>
                <a:latin typeface="Calibri" pitchFamily="34" charset="0"/>
                <a:ea typeface="Calibri" pitchFamily="34" charset="-122"/>
                <a:cs typeface="Calibri" pitchFamily="34" charset="-120"/>
              </a:rPr>
              <a:t>BẮT ĐẦU NGAY HÔM NAY</a:t>
            </a:r>
            <a:endParaRPr lang="en-US" sz="1200" dirty="0"/>
          </a:p>
        </p:txBody>
      </p:sp>
      <p:sp>
        <p:nvSpPr>
          <p:cNvPr id="5"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Ba việc nhỏ — một bước lớn cùng nhau</a:t>
            </a:r>
            <a:endParaRPr lang="en-US" sz="3300" dirty="0"/>
          </a:p>
        </p:txBody>
      </p:sp>
      <p:sp>
        <p:nvSpPr>
          <p:cNvPr id="6" name="Shape 4"/>
          <p:cNvSpPr/>
          <p:nvPr/>
        </p:nvSpPr>
        <p:spPr>
          <a:xfrm>
            <a:off x="566928" y="1783080"/>
            <a:ext cx="548640" cy="548640"/>
          </a:xfrm>
          <a:prstGeom prst="ellipse">
            <a:avLst/>
          </a:prstGeom>
          <a:solidFill>
            <a:srgbClr val="C9A96E"/>
          </a:solidFill>
          <a:ln/>
        </p:spPr>
      </p:sp>
      <p:sp>
        <p:nvSpPr>
          <p:cNvPr id="7" name="Text 5"/>
          <p:cNvSpPr/>
          <p:nvPr/>
        </p:nvSpPr>
        <p:spPr>
          <a:xfrm>
            <a:off x="566928" y="1801368"/>
            <a:ext cx="548640" cy="512064"/>
          </a:xfrm>
          <a:prstGeom prst="rect">
            <a:avLst/>
          </a:prstGeom>
          <a:noFill/>
          <a:ln/>
        </p:spPr>
        <p:txBody>
          <a:bodyPr wrap="square" lIns="0" tIns="0" rIns="0" bIns="0" rtlCol="0" anchor="ctr"/>
          <a:lstStyle/>
          <a:p>
            <a:pPr algn="ctr" indent="0" marL="0">
              <a:buNone/>
            </a:pPr>
            <a:r>
              <a:rPr lang="en-US" sz="2200" b="1" dirty="0">
                <a:solidFill>
                  <a:srgbClr val="0A1428"/>
                </a:solidFill>
              </a:rPr>
              <a:t>1</a:t>
            </a:r>
            <a:endParaRPr lang="en-US" sz="2200" dirty="0"/>
          </a:p>
        </p:txBody>
      </p:sp>
      <p:sp>
        <p:nvSpPr>
          <p:cNvPr id="8" name="Text 6"/>
          <p:cNvSpPr/>
          <p:nvPr/>
        </p:nvSpPr>
        <p:spPr>
          <a:xfrm>
            <a:off x="1325880" y="1746504"/>
            <a:ext cx="5760720" cy="365760"/>
          </a:xfrm>
          <a:prstGeom prst="rect">
            <a:avLst/>
          </a:prstGeom>
          <a:noFill/>
          <a:ln/>
        </p:spPr>
        <p:txBody>
          <a:bodyPr wrap="square" lIns="0" tIns="0" rIns="0" bIns="0" rtlCol="0" anchor="ctr"/>
          <a:lstStyle/>
          <a:p>
            <a:pPr indent="0" marL="0">
              <a:buNone/>
            </a:pPr>
            <a:r>
              <a:rPr lang="en-US" sz="1700" b="1" dirty="0">
                <a:solidFill>
                  <a:srgbClr val="FFFFFF"/>
                </a:solidFill>
              </a:rPr>
              <a:t>Đăng nhập hệ thống</a:t>
            </a:r>
            <a:endParaRPr lang="en-US" sz="1700" dirty="0"/>
          </a:p>
        </p:txBody>
      </p:sp>
      <p:sp>
        <p:nvSpPr>
          <p:cNvPr id="9" name="Text 7"/>
          <p:cNvSpPr/>
          <p:nvPr/>
        </p:nvSpPr>
        <p:spPr>
          <a:xfrm>
            <a:off x="1325880" y="2084832"/>
            <a:ext cx="5760720" cy="457200"/>
          </a:xfrm>
          <a:prstGeom prst="rect">
            <a:avLst/>
          </a:prstGeom>
          <a:noFill/>
          <a:ln/>
        </p:spPr>
        <p:txBody>
          <a:bodyPr wrap="square" lIns="0" tIns="0" rIns="0" bIns="0" rtlCol="0" anchor="ctr"/>
          <a:lstStyle/>
          <a:p>
            <a:pPr indent="0" marL="0">
              <a:buNone/>
            </a:pPr>
            <a:r>
              <a:rPr lang="en-US" sz="1250" dirty="0">
                <a:solidFill>
                  <a:srgbClr val="AAB8CB"/>
                </a:solidFill>
              </a:rPr>
              <a:t>Nhận tài khoản từ Admin, đăng nhập ngay hôm nay và khám phá màn hình dành riêng cho vai trò của bạn.</a:t>
            </a:r>
            <a:endParaRPr lang="en-US" sz="1250" dirty="0"/>
          </a:p>
        </p:txBody>
      </p:sp>
      <p:sp>
        <p:nvSpPr>
          <p:cNvPr id="10" name="Shape 8"/>
          <p:cNvSpPr/>
          <p:nvPr/>
        </p:nvSpPr>
        <p:spPr>
          <a:xfrm>
            <a:off x="566928" y="2770632"/>
            <a:ext cx="548640" cy="548640"/>
          </a:xfrm>
          <a:prstGeom prst="ellipse">
            <a:avLst/>
          </a:prstGeom>
          <a:solidFill>
            <a:srgbClr val="C9A96E"/>
          </a:solidFill>
          <a:ln/>
        </p:spPr>
      </p:sp>
      <p:sp>
        <p:nvSpPr>
          <p:cNvPr id="11" name="Text 9"/>
          <p:cNvSpPr/>
          <p:nvPr/>
        </p:nvSpPr>
        <p:spPr>
          <a:xfrm>
            <a:off x="566928" y="2788920"/>
            <a:ext cx="548640" cy="512064"/>
          </a:xfrm>
          <a:prstGeom prst="rect">
            <a:avLst/>
          </a:prstGeom>
          <a:noFill/>
          <a:ln/>
        </p:spPr>
        <p:txBody>
          <a:bodyPr wrap="square" lIns="0" tIns="0" rIns="0" bIns="0" rtlCol="0" anchor="ctr"/>
          <a:lstStyle/>
          <a:p>
            <a:pPr algn="ctr" indent="0" marL="0">
              <a:buNone/>
            </a:pPr>
            <a:r>
              <a:rPr lang="en-US" sz="2200" b="1" dirty="0">
                <a:solidFill>
                  <a:srgbClr val="0A1428"/>
                </a:solidFill>
              </a:rPr>
              <a:t>2</a:t>
            </a:r>
            <a:endParaRPr lang="en-US" sz="2200" dirty="0"/>
          </a:p>
        </p:txBody>
      </p:sp>
      <p:sp>
        <p:nvSpPr>
          <p:cNvPr id="12" name="Text 10"/>
          <p:cNvSpPr/>
          <p:nvPr/>
        </p:nvSpPr>
        <p:spPr>
          <a:xfrm>
            <a:off x="1325880" y="2734056"/>
            <a:ext cx="5760720" cy="365760"/>
          </a:xfrm>
          <a:prstGeom prst="rect">
            <a:avLst/>
          </a:prstGeom>
          <a:noFill/>
          <a:ln/>
        </p:spPr>
        <p:txBody>
          <a:bodyPr wrap="square" lIns="0" tIns="0" rIns="0" bIns="0" rtlCol="0" anchor="ctr"/>
          <a:lstStyle/>
          <a:p>
            <a:pPr indent="0" marL="0">
              <a:buNone/>
            </a:pPr>
            <a:r>
              <a:rPr lang="en-US" sz="1700" b="1" dirty="0">
                <a:solidFill>
                  <a:srgbClr val="FFFFFF"/>
                </a:solidFill>
              </a:rPr>
              <a:t>Liên kết Telegram</a:t>
            </a:r>
            <a:endParaRPr lang="en-US" sz="1700" dirty="0"/>
          </a:p>
        </p:txBody>
      </p:sp>
      <p:sp>
        <p:nvSpPr>
          <p:cNvPr id="13" name="Text 11"/>
          <p:cNvSpPr/>
          <p:nvPr/>
        </p:nvSpPr>
        <p:spPr>
          <a:xfrm>
            <a:off x="1325880" y="3072384"/>
            <a:ext cx="5760720" cy="457200"/>
          </a:xfrm>
          <a:prstGeom prst="rect">
            <a:avLst/>
          </a:prstGeom>
          <a:noFill/>
          <a:ln/>
        </p:spPr>
        <p:txBody>
          <a:bodyPr wrap="square" lIns="0" tIns="0" rIns="0" bIns="0" rtlCol="0" anchor="ctr"/>
          <a:lstStyle/>
          <a:p>
            <a:pPr indent="0" marL="0">
              <a:buNone/>
            </a:pPr>
            <a:r>
              <a:rPr lang="en-US" sz="1250" dirty="0">
                <a:solidFill>
                  <a:srgbClr val="AAB8CB"/>
                </a:solidFill>
              </a:rPr>
              <a:t>Vào Cài đặt → liên kết Telegram để nhận nhắc việc, phiếu lương và không bỏ lỡ thông tin nào.</a:t>
            </a:r>
            <a:endParaRPr lang="en-US" sz="1250" dirty="0"/>
          </a:p>
        </p:txBody>
      </p:sp>
      <p:sp>
        <p:nvSpPr>
          <p:cNvPr id="14" name="Shape 12"/>
          <p:cNvSpPr/>
          <p:nvPr/>
        </p:nvSpPr>
        <p:spPr>
          <a:xfrm>
            <a:off x="566928" y="3758184"/>
            <a:ext cx="548640" cy="548640"/>
          </a:xfrm>
          <a:prstGeom prst="ellipse">
            <a:avLst/>
          </a:prstGeom>
          <a:solidFill>
            <a:srgbClr val="C9A96E"/>
          </a:solidFill>
          <a:ln/>
        </p:spPr>
      </p:sp>
      <p:sp>
        <p:nvSpPr>
          <p:cNvPr id="15" name="Text 13"/>
          <p:cNvSpPr/>
          <p:nvPr/>
        </p:nvSpPr>
        <p:spPr>
          <a:xfrm>
            <a:off x="566928" y="3776472"/>
            <a:ext cx="548640" cy="512064"/>
          </a:xfrm>
          <a:prstGeom prst="rect">
            <a:avLst/>
          </a:prstGeom>
          <a:noFill/>
          <a:ln/>
        </p:spPr>
        <p:txBody>
          <a:bodyPr wrap="square" lIns="0" tIns="0" rIns="0" bIns="0" rtlCol="0" anchor="ctr"/>
          <a:lstStyle/>
          <a:p>
            <a:pPr algn="ctr" indent="0" marL="0">
              <a:buNone/>
            </a:pPr>
            <a:r>
              <a:rPr lang="en-US" sz="2200" b="1" dirty="0">
                <a:solidFill>
                  <a:srgbClr val="0A1428"/>
                </a:solidFill>
              </a:rPr>
              <a:t>3</a:t>
            </a:r>
            <a:endParaRPr lang="en-US" sz="2200" dirty="0"/>
          </a:p>
        </p:txBody>
      </p:sp>
      <p:sp>
        <p:nvSpPr>
          <p:cNvPr id="16" name="Text 14"/>
          <p:cNvSpPr/>
          <p:nvPr/>
        </p:nvSpPr>
        <p:spPr>
          <a:xfrm>
            <a:off x="1325880" y="3721608"/>
            <a:ext cx="5760720" cy="365760"/>
          </a:xfrm>
          <a:prstGeom prst="rect">
            <a:avLst/>
          </a:prstGeom>
          <a:noFill/>
          <a:ln/>
        </p:spPr>
        <p:txBody>
          <a:bodyPr wrap="square" lIns="0" tIns="0" rIns="0" bIns="0" rtlCol="0" anchor="ctr"/>
          <a:lstStyle/>
          <a:p>
            <a:pPr indent="0" marL="0">
              <a:buNone/>
            </a:pPr>
            <a:r>
              <a:rPr lang="en-US" sz="1700" b="1" dirty="0">
                <a:solidFill>
                  <a:srgbClr val="FFFFFF"/>
                </a:solidFill>
              </a:rPr>
              <a:t>Mọi công việc lên hệ thống</a:t>
            </a:r>
            <a:endParaRPr lang="en-US" sz="1700" dirty="0"/>
          </a:p>
        </p:txBody>
      </p:sp>
      <p:sp>
        <p:nvSpPr>
          <p:cNvPr id="17" name="Text 15"/>
          <p:cNvSpPr/>
          <p:nvPr/>
        </p:nvSpPr>
        <p:spPr>
          <a:xfrm>
            <a:off x="1325880" y="4059936"/>
            <a:ext cx="5760720" cy="457200"/>
          </a:xfrm>
          <a:prstGeom prst="rect">
            <a:avLst/>
          </a:prstGeom>
          <a:noFill/>
          <a:ln/>
        </p:spPr>
        <p:txBody>
          <a:bodyPr wrap="square" lIns="0" tIns="0" rIns="0" bIns="0" rtlCol="0" anchor="ctr"/>
          <a:lstStyle/>
          <a:p>
            <a:pPr indent="0" marL="0">
              <a:buNone/>
            </a:pPr>
            <a:r>
              <a:rPr lang="en-US" sz="1250" dirty="0">
                <a:solidFill>
                  <a:srgbClr val="AAB8CB"/>
                </a:solidFill>
              </a:rPr>
              <a:t>Lead, báo giá, tiến độ, chấm công — làm trên hệ thống từ hôm nay. Không quay lại Excel &amp; tin nhắn trôi.</a:t>
            </a:r>
            <a:endParaRPr lang="en-US" sz="1250" dirty="0"/>
          </a:p>
        </p:txBody>
      </p:sp>
      <p:pic>
        <p:nvPicPr>
          <p:cNvPr id="18" name="Image 0" descr="preencoded.png">    </p:cNvPr>
          <p:cNvPicPr>
            <a:picLocks noChangeAspect="1"/>
          </p:cNvPicPr>
          <p:nvPr/>
        </p:nvPicPr>
        <p:blipFill>
          <a:blip r:embed="rId1"/>
          <a:stretch>
            <a:fillRect/>
          </a:stretch>
        </p:blipFill>
        <p:spPr>
          <a:xfrm>
            <a:off x="7452360" y="1755648"/>
            <a:ext cx="4169664" cy="2779776"/>
          </a:xfrm>
          <a:prstGeom prst="rect">
            <a:avLst/>
          </a:prstGeom>
        </p:spPr>
      </p:pic>
      <p:sp>
        <p:nvSpPr>
          <p:cNvPr id="19" name="Text 16"/>
          <p:cNvSpPr/>
          <p:nvPr/>
        </p:nvSpPr>
        <p:spPr>
          <a:xfrm>
            <a:off x="7452360" y="4572000"/>
            <a:ext cx="4169664" cy="274320"/>
          </a:xfrm>
          <a:prstGeom prst="rect">
            <a:avLst/>
          </a:prstGeom>
          <a:noFill/>
          <a:ln/>
        </p:spPr>
        <p:txBody>
          <a:bodyPr wrap="square" lIns="0" tIns="0" rIns="0" bIns="0" rtlCol="0" anchor="ctr"/>
          <a:lstStyle/>
          <a:p>
            <a:pPr algn="ctr" indent="0" marL="0">
              <a:buNone/>
            </a:pPr>
            <a:r>
              <a:rPr lang="en-US" sz="1000" i="1" dirty="0">
                <a:solidFill>
                  <a:srgbClr val="AAB8CB"/>
                </a:solidFill>
              </a:rPr>
              <a:t>Đội ngũ JAMA HOME — teambuilding</a:t>
            </a:r>
            <a:endParaRPr lang="en-US" sz="1000" dirty="0"/>
          </a:p>
        </p:txBody>
      </p:sp>
      <p:sp>
        <p:nvSpPr>
          <p:cNvPr id="20" name="Shape 17"/>
          <p:cNvSpPr/>
          <p:nvPr/>
        </p:nvSpPr>
        <p:spPr>
          <a:xfrm>
            <a:off x="566928" y="5074920"/>
            <a:ext cx="11064240" cy="0"/>
          </a:xfrm>
          <a:prstGeom prst="line">
            <a:avLst/>
          </a:prstGeom>
          <a:noFill/>
          <a:ln w="12700">
            <a:solidFill>
              <a:srgbClr val="1B3152"/>
            </a:solidFill>
            <a:prstDash val="solid"/>
          </a:ln>
        </p:spPr>
      </p:sp>
      <p:sp>
        <p:nvSpPr>
          <p:cNvPr id="21" name="Text 18"/>
          <p:cNvSpPr/>
          <p:nvPr/>
        </p:nvSpPr>
        <p:spPr>
          <a:xfrm>
            <a:off x="0" y="5349240"/>
            <a:ext cx="12188952"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10 năm nền móng — </a:t>
            </a:r>
            <a:pPr algn="ctr" indent="0" marL="0">
              <a:buNone/>
            </a:pPr>
            <a:r>
              <a:rPr lang="en-US" sz="2600" b="1" dirty="0">
                <a:solidFill>
                  <a:srgbClr val="C9A96E"/>
                </a:solidFill>
                <a:latin typeface="Cambria" pitchFamily="34" charset="0"/>
                <a:ea typeface="Cambria" pitchFamily="34" charset="-122"/>
                <a:cs typeface="Cambria" pitchFamily="34" charset="-120"/>
              </a:rPr>
              <a:t>thập kỷ bứt phá</a:t>
            </a:r>
            <a:pPr algn="ctr" indent="0" marL="0">
              <a:buNone/>
            </a:pPr>
            <a:r>
              <a:rPr lang="en-US" sz="2600" b="1" dirty="0">
                <a:solidFill>
                  <a:srgbClr val="FFFFFF"/>
                </a:solidFill>
                <a:latin typeface="Cambria" pitchFamily="34" charset="0"/>
                <a:ea typeface="Cambria" pitchFamily="34" charset="-122"/>
                <a:cs typeface="Cambria" pitchFamily="34" charset="-120"/>
              </a:rPr>
              <a:t> bắt đầu từ hôm nay.</a:t>
            </a:r>
            <a:endParaRPr lang="en-US" sz="2600" dirty="0"/>
          </a:p>
        </p:txBody>
      </p:sp>
      <p:sp>
        <p:nvSpPr>
          <p:cNvPr id="22" name="Text 19"/>
          <p:cNvSpPr/>
          <p:nvPr/>
        </p:nvSpPr>
        <p:spPr>
          <a:xfrm>
            <a:off x="0" y="5989320"/>
            <a:ext cx="12188952" cy="365760"/>
          </a:xfrm>
          <a:prstGeom prst="rect">
            <a:avLst/>
          </a:prstGeom>
          <a:noFill/>
          <a:ln/>
        </p:spPr>
        <p:txBody>
          <a:bodyPr wrap="square" lIns="0" tIns="0" rIns="0" bIns="0" rtlCol="0" anchor="ctr"/>
          <a:lstStyle/>
          <a:p>
            <a:pPr algn="ctr" indent="0" marL="0">
              <a:buNone/>
            </a:pPr>
            <a:r>
              <a:rPr lang="en-US" sz="1300" i="1" dirty="0">
                <a:solidFill>
                  <a:srgbClr val="AAB8CB"/>
                </a:solidFill>
              </a:rPr>
              <a:t>JAMA HOME · Thiết kế cho cuộc sống mới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2026-07-19T18:43:34Z</dcterms:created>
  <dcterms:modified xsi:type="dcterms:W3CDTF">2026-07-19T18:43:34Z</dcterms:modified>
</cp:coreProperties>
</file>