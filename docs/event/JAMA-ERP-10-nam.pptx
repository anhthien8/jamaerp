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Chào mừng cả nhà đến sinh nhật 10 tuổi JAMA HOME. Hôm nay ngoài kỷ niệm, chúng ta ra mắt một thành viên mới: JAMA ERP — hệ thống do chính chúng ta xây cho chính chúng 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Nhấn mạnh: 10 năm qua là nền móng. Thời đại Việt Nam mở cửa = cơ hội khổng lồ nhưng ai nhanh hơn người đó thắng. ERP là cách chúng ta chạy nhanh hơn thị trường.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ngắn gọn ERP là gì bằng ngôn ngữ đời thường: toàn bộ công ty trên một hệ thống, một nguồn số thật. Nhấn số 327 kiểm thử = làm nghiêm túc, không phải đồ chơi.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Đi qua 6 bước theo hành trình 1 khách hàng thật. Chốt câu: không khách nào bị bỏ quên — đó là tiền của công ty và hoa hồng của các bạn.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quan trọng nhất với đội sales — nói chậm. Báo giá 30 giây NGAY TẠI NHÀ KHÁCH là vũ khí chốt deal. Hoa hồng minh bạch: ký xong thấy tiền của mình ngay trên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Dành cho anh em công trường: mọi thứ 1 chạm trên điện thoại, mất mạng vẫn chấm công được. Có chế độ màn hình ngoài trời — anh em đứng nắng vẫn đọc rõ.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Kế toán &amp; HR: nhập một lần, số tự chảy. Lương + thuế TNCN tự tính, phiếu lương gửi riêng từng người qua Telegram — công bằng, kín đáo.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BOD: 8h sáng số liệu tự đến qua Telegram. Ngân sách vs thực chi cảnh báo dự án 'ăn' lợi nhuận từ sớm.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Điểm nhấn công nghệ: AI + bot làm việc cả đêm. Khung nói: việc lặp lại để máy lo, con người dành cho khách hàng.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Customer Portal: khách tự xem tiến độ nhà mình + nghiệm thu online. Uy tín hôm nay = hợp đồng ngày mai — nguồn giới thiệu là kênh rẻ nhất, chất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Kết nối lợi ích: công ty thắng thì anh em thắng — năng suất, thu nhập, cơ hội sự nghiệp trong thời đại mở cửa. Đọc chậm câu quote cuối.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Kêu gọi hành động cụ thể 3 việc: đăng nhập hôm nay, liên kết Telegram, mọi việc lên hệ thống. Chốt: 10 năm nền móng — thập kỷ bứt phá bắt đầu từ hôm nay. Cảm ơn cả nhà!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206240"/>
            <a:ext cx="5486400" cy="5486400"/>
          </a:xfrm>
          <a:prstGeom prst="ellipse">
            <a:avLst/>
          </a:prstGeom>
          <a:solidFill>
            <a:srgbClr val="C9A96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solidFill>
            <a:srgbClr val="C9A96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93268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500" kern="0" dirty="0">
                <a:solidFill>
                  <a:srgbClr val="AAB8CB"/>
                </a:solidFill>
              </a:rPr>
              <a:t>KỶ NIỆM THÀNH LẬP CÔNG 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NĂM </a:t>
            </a:r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JAMA HOME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0" y="2761488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96E"/>
                </a:solidFill>
              </a:rPr>
              <a:t>Thiết kế cho cuộc sống mới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082796" y="3529584"/>
            <a:ext cx="1554480" cy="0"/>
          </a:xfrm>
          <a:prstGeom prst="line">
            <a:avLst/>
          </a:prstGeom>
          <a:noFill/>
          <a:ln w="12700">
            <a:solidFill>
              <a:srgbClr val="B893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11012" y="3246120"/>
            <a:ext cx="566928" cy="566928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5736" y="3370844"/>
            <a:ext cx="317480" cy="317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51676" y="3529584"/>
            <a:ext cx="1554480" cy="0"/>
          </a:xfrm>
          <a:prstGeom prst="line">
            <a:avLst/>
          </a:prstGeom>
          <a:noFill/>
          <a:ln w="12700">
            <a:solidFill>
              <a:srgbClr val="B893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4041648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</a:rPr>
              <a:t>RA MẮT HỆ THỐNG JAMA ERP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0" y="45262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8CB"/>
                </a:solidFill>
              </a:rPr>
              <a:t>Hệ điều hành số của chúng ta cho thập kỷ bứt phá tiếp theo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AB8CB"/>
                </a:solidFill>
              </a:rPr>
              <a:t>Sự kiện nội bộ · BOD &amp; toàn thể thành viên JAMA HOME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005840"/>
            <a:ext cx="2926080" cy="2926080"/>
          </a:xfrm>
          <a:prstGeom prst="ellipse">
            <a:avLst/>
          </a:prstGeom>
          <a:solidFill>
            <a:srgbClr val="C9A96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1417320"/>
            <a:ext cx="146304" cy="146304"/>
          </a:xfrm>
          <a:prstGeom prst="ellipse">
            <a:avLst/>
          </a:prstGeom>
          <a:solidFill>
            <a:srgbClr val="C9A96E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TRÌNH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năm xây tổ ấm — bây giờ xây thập kỷ bứt phá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582" y="1740286"/>
            <a:ext cx="286756" cy="2867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45336"/>
            <a:ext cx="5321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Nền móng 10 năm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280160" y="1856232"/>
            <a:ext cx="5321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Từ đội ngũ nhỏ thành công ty 100+ thành viên, 5 phòng ban — được khách hàng tin giao tổ ấm của họ.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67919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" y="2791846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596896"/>
            <a:ext cx="5321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Thời đại mở cửa của Việt Nam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280160" y="2907792"/>
            <a:ext cx="5321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Kinh tế hội nhập, tầng lớp trung lưu tăng nhanh — nhu cầu nhà đẹp chưa bao giờ lớn như bây giờ.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373075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" y="3843406"/>
            <a:ext cx="286756" cy="2867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648456"/>
            <a:ext cx="5321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Cơ hội thuộc về người nhanh hơn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280160" y="3959352"/>
            <a:ext cx="5321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Ai phản hồi khách nhanh hơn, vận hành gọn hơn — người đó thắng. Vì vậy chúng ta xây JAMA ERP.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66928" y="5212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96E"/>
                </a:solidFill>
              </a:rPr>
              <a:t>“Cơ hội không chờ ai. Chúng ta trang bị để nắm lấy nó.”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086600" y="160020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223760" y="1746504"/>
            <a:ext cx="201168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21" name="Text 16"/>
          <p:cNvSpPr/>
          <p:nvPr/>
        </p:nvSpPr>
        <p:spPr>
          <a:xfrm>
            <a:off x="7223760" y="2581351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năm phát triển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223760" y="287395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8CB"/>
                </a:solidFill>
              </a:rPr>
              <a:t>nền móng vững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555480" y="160020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692640" y="1746504"/>
            <a:ext cx="201168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4000" dirty="0"/>
          </a:p>
        </p:txBody>
      </p:sp>
      <p:sp>
        <p:nvSpPr>
          <p:cNvPr id="25" name="Text 20"/>
          <p:cNvSpPr/>
          <p:nvPr/>
        </p:nvSpPr>
        <p:spPr>
          <a:xfrm>
            <a:off x="9692640" y="2581351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thành viên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9692640" y="287395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8CB"/>
                </a:solidFill>
              </a:rPr>
              <a:t>5 phòng ban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086600" y="347472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223760" y="3621024"/>
            <a:ext cx="201168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000" dirty="0"/>
          </a:p>
        </p:txBody>
      </p:sp>
      <p:sp>
        <p:nvSpPr>
          <p:cNvPr id="29" name="Text 24"/>
          <p:cNvSpPr/>
          <p:nvPr/>
        </p:nvSpPr>
        <p:spPr>
          <a:xfrm>
            <a:off x="7223760" y="4455871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hệ thống mới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7223760" y="474847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8CB"/>
                </a:solidFill>
              </a:rPr>
              <a:t>không bao giờ ngủ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555480" y="347472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9692640" y="3621024"/>
            <a:ext cx="201168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33" name="Text 28"/>
          <p:cNvSpPr/>
          <p:nvPr/>
        </p:nvSpPr>
        <p:spPr>
          <a:xfrm>
            <a:off x="9692640" y="4455871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đội ngũ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9692640" y="474847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8CB"/>
                </a:solidFill>
              </a:rPr>
              <a:t>một mục tiêu chung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005840"/>
            <a:ext cx="2926080" cy="2926080"/>
          </a:xfrm>
          <a:prstGeom prst="ellipse">
            <a:avLst/>
          </a:prstGeom>
          <a:solidFill>
            <a:srgbClr val="C9A96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1417320"/>
            <a:ext cx="146304" cy="146304"/>
          </a:xfrm>
          <a:prstGeom prst="ellipse">
            <a:avLst/>
          </a:prstGeom>
          <a:solidFill>
            <a:srgbClr val="C9A96E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MẮT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JAMA ERP — toàn bộ công ty trong một hệ thống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6"/>
                </a:solidFill>
              </a:rPr>
              <a:t>Khách hàng → Báo giá → Hợp đồng → Thi công → Nghiệm thu → Bảo hành. Một dòng chảy, một nguồn số liệu thật — hết cảnh mỗi người một file Excel, tin nhắn trôi mất.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37744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523744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04088" y="3491179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phân hệ nghiệp vụ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3783787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8CB"/>
                </a:solidFill>
              </a:rPr>
              <a:t>CRM · dự án · kho · tài chính · HR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20440" y="237744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523744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57600" y="3491179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vai trò chuyên biệt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783787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8CB"/>
                </a:solidFill>
              </a:rPr>
              <a:t>màn hình riêng cho từng vị trí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73952" y="237744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2523744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327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611112" y="3491179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kiểm thử tự động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11112" y="3783787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8CB"/>
                </a:solidFill>
              </a:rPr>
              <a:t>chạy trước mỗi lần nâng cấp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27464" y="237744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64624" y="2523744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564624" y="3491179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trên mọi thiết bị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64624" y="3783787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8CB"/>
                </a:solidFill>
              </a:rPr>
              <a:t>điện thoại · máy tính · Telegram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754880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582" y="4867534"/>
            <a:ext cx="286756" cy="28675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80160" y="47731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8CB"/>
                </a:solidFill>
              </a:rPr>
              <a:t>Dữ liệu an toàn: máy chủ đám mây, sao lưu mỗi ngày, phân quyền chặt theo vai trò — ai đúng việc nấy.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66928" y="5440680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" y="5553334"/>
            <a:ext cx="286756" cy="2867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280160" y="54589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8CB"/>
                </a:solidFill>
              </a:rPr>
              <a:t>Không cần cài đặt gì phức tạp: mở trình duyệt là làm việc, ngoài công trường vẫn thao tác được 1 tay.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005840"/>
            <a:ext cx="2926080" cy="2926080"/>
          </a:xfrm>
          <a:prstGeom prst="ellipse">
            <a:avLst/>
          </a:prstGeom>
          <a:solidFill>
            <a:srgbClr val="C9A96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1417320"/>
            <a:ext cx="146304" cy="146304"/>
          </a:xfrm>
          <a:prstGeom prst="ellipse">
            <a:avLst/>
          </a:prstGeom>
          <a:solidFill>
            <a:srgbClr val="C9A96E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DÒNG CHẢY DUY NHẤT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Hành trình của mỗi khách hàng trên JAMA ERP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1755648" cy="2834640"/>
          </a:xfrm>
          <a:prstGeom prst="roundRect">
            <a:avLst>
              <a:gd name="adj" fmla="val 4167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" y="2240280"/>
            <a:ext cx="566928" cy="566928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6012" y="2365004"/>
            <a:ext cx="317480" cy="317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65376" y="2075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935A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92608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Tiếp nhận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76656" y="3447288"/>
            <a:ext cx="1536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8CB"/>
                </a:solidFill>
              </a:rPr>
              <a:t>Zalo · web · giới thiệu — vào thẳng hệ thống, không lọt sổ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50592" y="1965960"/>
            <a:ext cx="1755648" cy="2834640"/>
          </a:xfrm>
          <a:prstGeom prst="roundRect">
            <a:avLst>
              <a:gd name="adj" fmla="val 4167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44952" y="2240280"/>
            <a:ext cx="566928" cy="566928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676" y="2365004"/>
            <a:ext cx="317480" cy="317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2075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935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523744" y="292608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Báo giá 30 giây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2560320" y="3447288"/>
            <a:ext cx="1536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8CB"/>
                </a:solidFill>
              </a:rPr>
              <a:t>Báo giá tức thì ngay tại nhà khách, chốt khi còn nóng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334256" y="1965960"/>
            <a:ext cx="1755648" cy="2834640"/>
          </a:xfrm>
          <a:prstGeom prst="roundRect">
            <a:avLst>
              <a:gd name="adj" fmla="val 4167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28616" y="2240280"/>
            <a:ext cx="566928" cy="566928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340" y="2365004"/>
            <a:ext cx="317480" cy="317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632704" y="2075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935A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407408" y="292608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Hợp đồng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4443984" y="3447288"/>
            <a:ext cx="1536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8CB"/>
                </a:solidFill>
              </a:rPr>
              <a:t>Đợt thanh toán rõ ràng, nhắc thu tự động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217920" y="1965960"/>
            <a:ext cx="1755648" cy="2834640"/>
          </a:xfrm>
          <a:prstGeom prst="roundRect">
            <a:avLst>
              <a:gd name="adj" fmla="val 4167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12280" y="2240280"/>
            <a:ext cx="566928" cy="566928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7004" y="2365004"/>
            <a:ext cx="317480" cy="317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16368" y="2075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935A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291072" y="292608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Thi công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6327648" y="3447288"/>
            <a:ext cx="1536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8CB"/>
                </a:solidFill>
              </a:rPr>
              <a:t>Tiến độ 5 giai đoạn, vật tư, chấm công công trường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8101584" y="1965960"/>
            <a:ext cx="1755648" cy="2834640"/>
          </a:xfrm>
          <a:prstGeom prst="roundRect">
            <a:avLst>
              <a:gd name="adj" fmla="val 4167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695944" y="2240280"/>
            <a:ext cx="566928" cy="566928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668" y="2365004"/>
            <a:ext cx="317480" cy="317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400032" y="2075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935A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8174736" y="292608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Nghiệm thu số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8211312" y="3447288"/>
            <a:ext cx="1536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8CB"/>
                </a:solidFill>
              </a:rPr>
              <a:t>Khách xác nhận online từng giai đoạn — minh bạch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9985248" y="1965960"/>
            <a:ext cx="1755648" cy="2834640"/>
          </a:xfrm>
          <a:prstGeom prst="roundRect">
            <a:avLst>
              <a:gd name="adj" fmla="val 4167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0579608" y="2240280"/>
            <a:ext cx="566928" cy="566928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4332" y="2365004"/>
            <a:ext cx="317480" cy="3174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1283696" y="2075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935A"/>
                </a:solidFill>
              </a:rPr>
              <a:t>6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10058400" y="292608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Bảo hành</a:t>
            </a:r>
            <a:endParaRPr lang="en-US" sz="1450" dirty="0"/>
          </a:p>
        </p:txBody>
      </p:sp>
      <p:sp>
        <p:nvSpPr>
          <p:cNvPr id="41" name="Text 33"/>
          <p:cNvSpPr/>
          <p:nvPr/>
        </p:nvSpPr>
        <p:spPr>
          <a:xfrm>
            <a:off x="10094976" y="3447288"/>
            <a:ext cx="1536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8CB"/>
                </a:solidFill>
              </a:rPr>
              <a:t>Hệ thống tự nhắc trước khi hết hạn — chăm khách trọn đời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566928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C9A96E"/>
                </a:solidFill>
              </a:rPr>
              <a:t>Mỗi bước đều được hệ thống theo dõi &amp; nhắc việc — không khách hàng nào bị bỏ quên, không khâu nào đứt gãy.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005840"/>
            <a:ext cx="2926080" cy="2926080"/>
          </a:xfrm>
          <a:prstGeom prst="ellipse">
            <a:avLst/>
          </a:prstGeom>
          <a:solidFill>
            <a:srgbClr val="C9A96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1417320"/>
            <a:ext cx="146304" cy="146304"/>
          </a:xfrm>
          <a:prstGeom prst="ellipse">
            <a:avLst/>
          </a:prstGeom>
          <a:solidFill>
            <a:srgbClr val="C9A96E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DÀNH CHO ĐỘI KINH DOANH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Chốt nhanh hơn — thu nhập cao hơn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67335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582" y="1786006"/>
            <a:ext cx="286756" cy="2867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91056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Báo giá tức thì ngay tại nhà khách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280160" y="1901952"/>
            <a:ext cx="614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Chọn diện tích, phong cách — 30 giây có bảng giá chuyên nghiệp. Chốt khi khách còn đang hào hứng.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67919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" y="2791846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596896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Không còn lead bị quên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280160" y="2907792"/>
            <a:ext cx="614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Hệ thống tự nhắc chăm sóc sau 3 ngày; lead bỏ bê sẽ chuyển người khác — ai chăm chỉ người đó có khách.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368503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" y="3797686"/>
            <a:ext cx="286756" cy="2867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602736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Hoa hồng minh bạch từng hợp đồng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280160" y="3913632"/>
            <a:ext cx="614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Ký xong thấy ngay hoa hồng của mình trên hệ thống. Rõ ràng — không phải hỏi, không phải đợi.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66928" y="469087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82" y="4803526"/>
            <a:ext cx="286756" cy="2867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4608576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KPI &amp; bảng xếp hạng công khai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1280160" y="4919472"/>
            <a:ext cx="614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Nỗ lực được ghi nhận bằng con số. Làm tốt — cả công ty đều thấy.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863840" y="164592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13243C"/>
          </a:solidFill>
          <a:ln w="12700">
            <a:solidFill>
              <a:srgbClr val="B8935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001000" y="19659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giây</a:t>
            </a:r>
            <a:endParaRPr lang="en-US" sz="4800" dirty="0"/>
          </a:p>
        </p:txBody>
      </p:sp>
      <p:sp>
        <p:nvSpPr>
          <p:cNvPr id="24" name="Text 18"/>
          <p:cNvSpPr/>
          <p:nvPr/>
        </p:nvSpPr>
        <p:spPr>
          <a:xfrm>
            <a:off x="8001000" y="27889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từ hỏi giá đến bảng báo giá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8595360" y="3383280"/>
            <a:ext cx="2331720" cy="0"/>
          </a:xfrm>
          <a:prstGeom prst="line">
            <a:avLst/>
          </a:prstGeom>
          <a:noFill/>
          <a:ln w="12700">
            <a:solidFill>
              <a:srgbClr val="1B315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001000" y="36118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27" name="Text 21"/>
          <p:cNvSpPr/>
          <p:nvPr/>
        </p:nvSpPr>
        <p:spPr>
          <a:xfrm>
            <a:off x="8001000" y="43708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khách hàng bị bỏ quên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001000" y="50292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9A96E"/>
                </a:solidFill>
              </a:rPr>
              <a:t>Chốt nhiều hơn = thu nhập nhiều hơn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005840"/>
            <a:ext cx="2926080" cy="2926080"/>
          </a:xfrm>
          <a:prstGeom prst="ellipse">
            <a:avLst/>
          </a:prstGeom>
          <a:solidFill>
            <a:srgbClr val="C9A96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1417320"/>
            <a:ext cx="146304" cy="146304"/>
          </a:xfrm>
          <a:prstGeom prst="ellipse">
            <a:avLst/>
          </a:prstGeom>
          <a:solidFill>
            <a:srgbClr val="C9A96E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DÀNH CHO GIÁM SÁT &amp; ĐỘI THI CÔNG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công trường nằm gọn trong túi áo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13243C"/>
          </a:solidFill>
          <a:ln w="12700">
            <a:solidFill>
              <a:srgbClr val="B893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1488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chạm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04088" y="2971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chấm công · báo tiến độ · xin vật tư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3611880"/>
            <a:ext cx="2331720" cy="0"/>
          </a:xfrm>
          <a:prstGeom prst="line">
            <a:avLst/>
          </a:prstGeom>
          <a:noFill/>
          <a:ln w="12700">
            <a:solidFill>
              <a:srgbClr val="1B31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38404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AB8CB"/>
                </a:solidFill>
              </a:rPr>
              <a:t>Ngoài nắng vẫn dùng tốt — có chế độ màn hình Ngoài trời riêng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92040" y="167335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694" y="1786006"/>
            <a:ext cx="286756" cy="2867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05272" y="1591056"/>
            <a:ext cx="6053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Chấm công qua Telegram — kể cả mất mạng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605272" y="1901952"/>
            <a:ext cx="6053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Check-in 1 chạm tại công trường; offline vẫn lưu, có mạng tự gửi. Công của anh em không bao giờ mất.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892040" y="267919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694" y="2791846"/>
            <a:ext cx="286756" cy="2867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05272" y="2596896"/>
            <a:ext cx="6053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Vật tư xin — duyệt — giao trong ngày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5605272" y="2907792"/>
            <a:ext cx="6053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Xin vật tư trên điện thoại, sếp duyệt từ xa, kho thấy ngay. Hết cảnh chờ giấy tờ.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892040" y="368503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694" y="3797686"/>
            <a:ext cx="286756" cy="2867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605272" y="3602736"/>
            <a:ext cx="6053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Tiến độ 5 giai đoạn rõ từng việc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5605272" y="3913632"/>
            <a:ext cx="6053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Việc của ai, giai đoạn nào, trễ hạn gì — nhìn một màn hình là biết. Bàn giao đúng hẹn, khách nể.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892040" y="469087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694" y="4803526"/>
            <a:ext cx="286756" cy="2867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05272" y="4608576"/>
            <a:ext cx="6053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Sinh ra cho người đứng công trường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5605272" y="4919472"/>
            <a:ext cx="6053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Nút to, thao tác một tay, thanh điều hướng trong tầm ngón cái — không phải "dân văn phòng" mới dùng được.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005840"/>
            <a:ext cx="2926080" cy="2926080"/>
          </a:xfrm>
          <a:prstGeom prst="ellipse">
            <a:avLst/>
          </a:prstGeom>
          <a:solidFill>
            <a:srgbClr val="C9A96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1417320"/>
            <a:ext cx="146304" cy="146304"/>
          </a:xfrm>
          <a:prstGeom prst="ellipse">
            <a:avLst/>
          </a:prstGeom>
          <a:solidFill>
            <a:srgbClr val="C9A96E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DÀNH CHO KẾ TOÁN &amp; HÀNH CHÍNH NHÂN SỰ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Sổ sách tự khớp — lương thưởng tự tính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67335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582" y="1786006"/>
            <a:ext cx="286756" cy="2867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91056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Lãi lỗ từng dự án — thời gian thực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280160" y="1901952"/>
            <a:ext cx="614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Doanh thu, chi phí vật tư, nhân công gom tự động về từng công trình. Dự án nào lãi, dự án nào cần siết — thấy ngay.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67919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" y="2791846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596896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Phải thu theo hợp đồng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280160" y="2907792"/>
            <a:ext cx="614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Đợt thanh toán nào đến hạn, còn bao nhiêu chưa thu — hệ thống nhắc kế toán từng khoản.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368503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" y="3797686"/>
            <a:ext cx="286756" cy="2867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602736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Bảng lương tự động chuẩn luật 2026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280160" y="3913632"/>
            <a:ext cx="614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Chấm công đổ thẳng vào bảng công; lương, BHXH, thuế TNCN tính tự động; phiếu lương gửi riêng từng người qua Telegram.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66928" y="469087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82" y="4803526"/>
            <a:ext cx="286756" cy="2867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4608576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Chốt sổ có khóa kỳ — audit đầy đủ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1280160" y="4919472"/>
            <a:ext cx="614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Kỳ đã chốt không ai sửa được; mọi thay đổi nhạy cảm đều ghi vết. Minh bạch bảo vệ tất cả chúng ta.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863840" y="164592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13243C"/>
          </a:solidFill>
          <a:ln w="12700">
            <a:solidFill>
              <a:srgbClr val="B8935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001000" y="21031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24" name="Text 18"/>
          <p:cNvSpPr/>
          <p:nvPr/>
        </p:nvSpPr>
        <p:spPr>
          <a:xfrm>
            <a:off x="8001000" y="29718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lần gõ lại số liệu giữa các file Excel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8595360" y="3703320"/>
            <a:ext cx="2331720" cy="0"/>
          </a:xfrm>
          <a:prstGeom prst="line">
            <a:avLst/>
          </a:prstGeom>
          <a:noFill/>
          <a:ln w="12700">
            <a:solidFill>
              <a:srgbClr val="1B315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001000" y="39319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9A96E"/>
                </a:solidFill>
              </a:rPr>
              <a:t>Nhập một lần — chảy tới mọi báo cáo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005840"/>
            <a:ext cx="2926080" cy="2926080"/>
          </a:xfrm>
          <a:prstGeom prst="ellipse">
            <a:avLst/>
          </a:prstGeom>
          <a:solidFill>
            <a:srgbClr val="C9A96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1417320"/>
            <a:ext cx="146304" cy="146304"/>
          </a:xfrm>
          <a:prstGeom prst="ellipse">
            <a:avLst/>
          </a:prstGeom>
          <a:solidFill>
            <a:srgbClr val="C9A96E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DÀNH CHO BAN LÃNH ĐẠO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Toàn cảnh công ty trong lòng bàn tay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13243C"/>
          </a:solidFill>
          <a:ln w="12700">
            <a:solidFill>
              <a:srgbClr val="B893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1488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8:00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04088" y="29718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báo cáo tự động mỗi sáng qua Telegram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3657600"/>
            <a:ext cx="2331720" cy="0"/>
          </a:xfrm>
          <a:prstGeom prst="line">
            <a:avLst/>
          </a:prstGeom>
          <a:noFill/>
          <a:ln w="12700">
            <a:solidFill>
              <a:srgbClr val="1B31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38862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AB8CB"/>
                </a:solidFill>
              </a:rPr>
              <a:t>Ngày · tuần · tháng — chưa kịp hỏi, số đã tới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92040" y="167335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694" y="1786006"/>
            <a:ext cx="286756" cy="2867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05272" y="1591056"/>
            <a:ext cx="6053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Dashboard thời gian thực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605272" y="1901952"/>
            <a:ext cx="6053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Pipeline bán hàng, dự án đang chạy, dòng tiền, hiệu suất từng đội — số thật, cập nhật liên tục.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892040" y="267919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694" y="2791846"/>
            <a:ext cx="286756" cy="2867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05272" y="2596896"/>
            <a:ext cx="6053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Ngân sách vs thực chi từng dự án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5605272" y="2907792"/>
            <a:ext cx="6053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Dự án chi tới 80% ngân sách là hệ thống cảnh báo — phát hiện dự án "ăn" lợi nhuận trước khi quá muộn.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892040" y="368503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694" y="3797686"/>
            <a:ext cx="286756" cy="2867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605272" y="3602736"/>
            <a:ext cx="6053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Cảnh báo chủ động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5605272" y="3913632"/>
            <a:ext cx="6053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Hệ thống sập, khách quá hạn chăm, thanh toán đến hạn, sắp hết bảo hành — máy tự báo, người tập trung quyết định.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892040" y="469087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694" y="4803526"/>
            <a:ext cx="286756" cy="2867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05272" y="4608576"/>
            <a:ext cx="6053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Quyết định trên cùng một số liệu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5605272" y="4919472"/>
            <a:ext cx="6053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BOD và các phòng nhìn chung một nguồn số thật — họp nhanh hơn, quyết chính xác hơn.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005840"/>
            <a:ext cx="2926080" cy="2926080"/>
          </a:xfrm>
          <a:prstGeom prst="ellipse">
            <a:avLst/>
          </a:prstGeom>
          <a:solidFill>
            <a:srgbClr val="C9A96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1417320"/>
            <a:ext cx="146304" cy="146304"/>
          </a:xfrm>
          <a:prstGeom prst="ellipse">
            <a:avLst/>
          </a:prstGeom>
          <a:solidFill>
            <a:srgbClr val="C9A96E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 TUỆ NHÂN TẠO &amp; TỰ ĐỘNG HÓA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 lúc chúng ta ngủ — hệ thống vẫn làm việc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532120" cy="1920240"/>
          </a:xfrm>
          <a:prstGeom prst="roundRect">
            <a:avLst>
              <a:gd name="adj" fmla="val 4286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920240"/>
            <a:ext cx="548640" cy="548640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29" y="20409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1892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5 trợ lý AI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527048" y="2295144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CB"/>
                </a:solidFill>
              </a:rPr>
              <a:t>Chấm điểm lead tiềm năng, gợi ý hành động cho sales, điều phối đầu việc, phân tích số liệu, viết nhận định báo cáo.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27648" y="1691640"/>
            <a:ext cx="5532120" cy="1920240"/>
          </a:xfrm>
          <a:prstGeom prst="roundRect">
            <a:avLst>
              <a:gd name="adj" fmla="val 4286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56248" y="1920240"/>
            <a:ext cx="548640" cy="548640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949" y="20409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87768" y="1892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Bot Telegram trực 24/7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287768" y="2295144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CB"/>
                </a:solidFill>
              </a:rPr>
              <a:t>Chấm công, xin nghỉ phép, nhận phiếu lương, duyệt yêu cầu, nhận nhắc việc — ngay trong ứng dụng chat quen thuộc.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6928" y="3840480"/>
            <a:ext cx="5532120" cy="1920240"/>
          </a:xfrm>
          <a:prstGeom prst="roundRect">
            <a:avLst>
              <a:gd name="adj" fmla="val 4286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95528" y="4069080"/>
            <a:ext cx="548640" cy="548640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9" y="418978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27048" y="40416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Trợ lý lắng nghe Zalo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527048" y="4443984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CB"/>
                </a:solidFill>
              </a:rPr>
              <a:t>Kênh khách hàng số 1 của chúng ta được lắng nghe tự động — tín hiệu quan trọng đẩy thẳng về cho người phụ trách.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27648" y="3840480"/>
            <a:ext cx="5532120" cy="1920240"/>
          </a:xfrm>
          <a:prstGeom prst="roundRect">
            <a:avLst>
              <a:gd name="adj" fmla="val 4286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56248" y="4069080"/>
            <a:ext cx="548640" cy="548640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949" y="418978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87768" y="40416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Nhắc việc không mỏi mệt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7287768" y="4443984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CB"/>
                </a:solidFill>
              </a:rPr>
              <a:t>Chăm khách sau 3 ngày, thu hồi lead bỏ quên, đòi công nợ đến hạn, nhắc bảo hành trước 30 ngày — tự động toàn bộ.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66928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C9A96E"/>
                </a:solidFill>
              </a:rPr>
              <a:t>Việc lặp lại để máy lo — con người dành cho khách hàng và sáng tạo.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005840"/>
            <a:ext cx="2926080" cy="2926080"/>
          </a:xfrm>
          <a:prstGeom prst="ellipse">
            <a:avLst/>
          </a:prstGeom>
          <a:solidFill>
            <a:srgbClr val="C9A96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1417320"/>
            <a:ext cx="146304" cy="146304"/>
          </a:xfrm>
          <a:prstGeom prst="ellipse">
            <a:avLst/>
          </a:prstGeom>
          <a:solidFill>
            <a:srgbClr val="C9A96E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KHÁCH HÀNG ĐẲNG CẤP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Portal — khách hàng thấy tận mắt sự tử tế của chúng ta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582" y="1831726"/>
            <a:ext cx="286756" cy="2867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36776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Mỗi khách một liên kết riêng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280160" y="1947672"/>
            <a:ext cx="614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Gửi khách một đường link — không cần cài app, không cần mật khẩu phức tạp.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72491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" y="2837566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642616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Tiến độ tổ ấm minh bạch từng ngày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280160" y="2953512"/>
            <a:ext cx="614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Khách xem tiến độ, hạng mục, hoạt động mới nhất của chính công trình mình — mọi lúc mọi nơi.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373075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" y="3843406"/>
            <a:ext cx="286756" cy="2867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648456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Nghiệm thu online từng giai đoạn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280160" y="3959352"/>
            <a:ext cx="614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Hài lòng là bấm xác nhận — lưu dấu thời gian rõ ràng. Chuyên nghiệp, không tranh cãi.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66928" y="4736592"/>
            <a:ext cx="512064" cy="512064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82" y="4849246"/>
            <a:ext cx="286756" cy="2867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4654296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Trải nghiệm tốt sinh ra giới thiệu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1280160" y="4965192"/>
            <a:ext cx="614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Khách hài lòng kể cho bạn bè — nguồn hợp đồng chất lượng nhất, chi phí bằng 0.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863840" y="1691640"/>
            <a:ext cx="3794760" cy="4069080"/>
          </a:xfrm>
          <a:prstGeom prst="roundRect">
            <a:avLst>
              <a:gd name="adj" fmla="val 2410"/>
            </a:avLst>
          </a:prstGeom>
          <a:solidFill>
            <a:srgbClr val="13243C"/>
          </a:solidFill>
          <a:ln w="12700">
            <a:solidFill>
              <a:srgbClr val="B8935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473184" y="2103120"/>
            <a:ext cx="566928" cy="566928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7908" y="2227844"/>
            <a:ext cx="317480" cy="317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001000" y="2880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Uy tín hôm nay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8001000" y="3246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E"/>
                </a:solidFill>
              </a:rPr>
              <a:t>= hợp đồng ngày mai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8092440" y="393192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B8CB"/>
                </a:solidFill>
              </a:rPr>
              <a:t>Trong thời đại khách hàng so sánh từng trải nghiệm, sự minh bạch chính là lợi thế cạnh tranh.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005840"/>
            <a:ext cx="2926080" cy="2926080"/>
          </a:xfrm>
          <a:prstGeom prst="ellipse">
            <a:avLst/>
          </a:prstGeom>
          <a:solidFill>
            <a:srgbClr val="C9A96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1417320"/>
            <a:ext cx="146304" cy="146304"/>
          </a:xfrm>
          <a:prstGeom prst="ellipse">
            <a:avLst/>
          </a:prstGeom>
          <a:solidFill>
            <a:srgbClr val="C9A96E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MỖI CHÚNG TA ĐỀU HƯỞNG LỢI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ty thắng — Anh em thắng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43684" y="2103120"/>
            <a:ext cx="658368" cy="658368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8525" y="2247961"/>
            <a:ext cx="368686" cy="368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971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E"/>
                </a:solidFill>
              </a:rPr>
              <a:t>Năng suất nhân đôi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1248" y="34747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6"/>
                </a:solidFill>
              </a:rPr>
              <a:t>Bớt việc tay chân, giấy tờ, gõ lại số liệu. Thời gian đó dành cho khách hàng — nơi tạo ra giá trị và doanh thu.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98264" y="178308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75020" y="2103120"/>
            <a:ext cx="658368" cy="658368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61" y="2247961"/>
            <a:ext cx="368686" cy="3686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1144" y="2971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E"/>
                </a:solidFill>
              </a:rPr>
              <a:t>Thu nhập đi lên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72584" y="34747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6"/>
                </a:solidFill>
              </a:rPr>
              <a:t>Chốt nhanh hơn, không mất lead, hoa hồng minh bạch, KPI được ghi nhận — làm tốt là thấy ngay trong túi.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0" y="178308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13243C"/>
          </a:solidFill>
          <a:ln w="12700">
            <a:solidFill>
              <a:srgbClr val="1B315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706356" y="2103120"/>
            <a:ext cx="658368" cy="658368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197" y="2247961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2971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E"/>
                </a:solidFill>
              </a:rPr>
              <a:t>Vươn xa cùng thời đại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503920" y="34747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6"/>
                </a:solidFill>
              </a:rPr>
              <a:t>Việt Nam mở cửa, khách hàng chuẩn quốc tế. Vận hành chuyên nghiệp đưa JAMA HOME — và sự nghiệp của bạn — lên tầm mới.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66928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96E"/>
                </a:solidFill>
              </a:rPr>
              <a:t>“Hệ thống không thay thế con người — nó nhân sức mạnh của từng người lên nhiều lần.”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560320"/>
            <a:ext cx="5486400" cy="5486400"/>
          </a:xfrm>
          <a:prstGeom prst="ellipse">
            <a:avLst/>
          </a:prstGeom>
          <a:solidFill>
            <a:srgbClr val="C9A96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023360"/>
            <a:ext cx="5486400" cy="5486400"/>
          </a:xfrm>
          <a:prstGeom prst="ellipse">
            <a:avLst/>
          </a:prstGeom>
          <a:solidFill>
            <a:srgbClr val="C9A96E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NGAY HÔM NAY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việc nhỏ — một bước lớn cùng nhau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0136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428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7465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Đăng nhập hệ thống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20848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Nhận tài khoản từ Admin, đăng nhập ngay hôm nay và khám phá màn hình dành riêng cho vai trò của bạn.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770632"/>
            <a:ext cx="548640" cy="54864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78892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428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7340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Liên kết Telegram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30723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Vào Cài đặt → liên kết Telegram để nhận nhắc việc, phiếu lương và không bỏ lỡ thông tin nào.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758184"/>
            <a:ext cx="548640" cy="54864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77647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428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37216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Mọi công việc lên hệ thống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405993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B"/>
                </a:solidFill>
              </a:rPr>
              <a:t>Lead, báo giá, tiến độ, chấm công — làm trên hệ thống từ hôm nay. Không quay lại Excel &amp; tin nhắn trôi.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5074920"/>
            <a:ext cx="11064240" cy="0"/>
          </a:xfrm>
          <a:prstGeom prst="line">
            <a:avLst/>
          </a:prstGeom>
          <a:noFill/>
          <a:ln w="12700">
            <a:solidFill>
              <a:srgbClr val="1B31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53492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năm nền móng — </a:t>
            </a:r>
            <a:pPr algn="ctr"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thập kỷ bứt phá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bắt đầu từ hôm nay.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B8CB"/>
                </a:solidFill>
              </a:rPr>
              <a:t>JAMA HOME · Thiết kế cho cuộc sống mới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2026-07-19T17:14:31Z</dcterms:created>
  <dcterms:modified xsi:type="dcterms:W3CDTF">2026-07-19T17:14:31Z</dcterms:modified>
</cp:coreProperties>
</file>